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3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96" d="100"/>
          <a:sy n="96" d="100"/>
        </p:scale>
        <p:origin x="84" y="26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viewProps" Target="view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61594906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647395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7B6B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스톱 앤 스케치 (가제) · 신규 개발 제안</a:t>
            </a:r>
            <a:endParaRPr lang="en-US" sz="900" dirty="0"/>
          </a:p>
        </p:txBody>
      </p:sp>
      <p:sp>
        <p:nvSpPr>
          <p:cNvPr id="3" name="Text 1"/>
          <p:cNvSpPr>
            <a:spLocks noGrp="1"/>
          </p:cNvSpPr>
          <p:nvPr>
            <p:ph type="title" idx="101" hasCustomPrompt="1"/>
          </p:nvPr>
        </p:nvSpPr>
        <p:spPr>
          <a:xfrm>
            <a:off x="548640" y="292608"/>
            <a:ext cx="11094415" cy="685800"/>
          </a:xfrm>
          <a:prstGeom prst="rect">
            <a:avLst/>
          </a:prstGeom>
          <a:noFill/>
          <a:ln/>
        </p:spPr>
        <p:txBody>
          <a:bodyPr wrap="square" rtlCol="0"/>
          <a:lstStyle>
            <a:lvl1pPr marL="0" indent="0" algn="l">
              <a:buNone/>
              <a:defRPr lang="en-US" sz="2800" b="1" dirty="0">
                <a:solidFill>
                  <a:srgbClr val="2B2118"/>
                </a:solidFill>
                <a:latin typeface="Batang" pitchFamily="34" charset="0"/>
                <a:ea typeface="Batang" pitchFamily="34" charset="-122"/>
                <a:cs typeface="Batang" pitchFamily="34" charset="-120"/>
              </a:defRPr>
            </a:lvl1pPr>
          </a:lstStyle>
          <a:p>
            <a:pPr marL="0" indent="0" algn="l">
              <a:buNone/>
            </a:pPr>
            <a:endParaRPr lang="en-US" sz="2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5855" y="6473952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900">
                <a:solidFill>
                  <a:srgbClr val="7B6B57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lang="en-US" b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5855" y="6473952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900">
                <a:solidFill>
                  <a:srgbClr val="7B6B57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lang="en-US" b="0"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6.png"/><Relationship Id="rId5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7" Type="http://schemas.openxmlformats.org/officeDocument/2006/relationships/image" Target="../media/image11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0.png"/><Relationship Id="rId5" Type="http://schemas.openxmlformats.org/officeDocument/2006/relationships/image" Target="../media/image9.png"/><Relationship Id="rId4" Type="http://schemas.openxmlformats.org/officeDocument/2006/relationships/image" Target="../media/image8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 txBox="1"/>
          <p:nvPr/>
        </p:nvSpPr>
        <p:spPr>
          <a:xfrm>
            <a:off x="548640" y="1188720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b="1" dirty="0">
                <a:solidFill>
                  <a:srgbClr val="1F6F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신규 개발 제안 · HTML5 플레이어블 데모</a:t>
            </a:r>
            <a:endParaRPr lang="en-US" sz="1200" dirty="0"/>
          </a:p>
        </p:txBody>
      </p:sp>
      <p:sp>
        <p:nvSpPr>
          <p:cNvPr id="4" name="Text 1"/>
          <p:cNvSpPr txBox="1"/>
          <p:nvPr/>
        </p:nvSpPr>
        <p:spPr>
          <a:xfrm>
            <a:off x="548640" y="1600200"/>
            <a:ext cx="47548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4400" b="1" dirty="0">
                <a:solidFill>
                  <a:srgbClr val="2B2118"/>
                </a:solidFill>
                <a:latin typeface="Batang" pitchFamily="34" charset="0"/>
                <a:ea typeface="Batang" pitchFamily="34" charset="-122"/>
                <a:cs typeface="Batang" pitchFamily="34" charset="-120"/>
              </a:rPr>
              <a:t>스톱 앤 스케치</a:t>
            </a:r>
            <a:endParaRPr lang="en-US" sz="4400" dirty="0"/>
          </a:p>
        </p:txBody>
      </p:sp>
      <p:sp>
        <p:nvSpPr>
          <p:cNvPr id="5" name="Text 2"/>
          <p:cNvSpPr txBox="1"/>
          <p:nvPr/>
        </p:nvSpPr>
        <p:spPr>
          <a:xfrm>
            <a:off x="548640" y="251460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600" i="1" dirty="0">
                <a:solidFill>
                  <a:srgbClr val="7B6B57"/>
                </a:solidFill>
                <a:latin typeface="Batang" pitchFamily="34" charset="0"/>
                <a:ea typeface="Batang" pitchFamily="34" charset="-122"/>
                <a:cs typeface="Batang" pitchFamily="34" charset="-120"/>
              </a:rPr>
              <a:t>Stop &amp; Sketch (가제)</a:t>
            </a:r>
            <a:endParaRPr lang="en-US" sz="1600" dirty="0"/>
          </a:p>
        </p:txBody>
      </p:sp>
      <p:sp>
        <p:nvSpPr>
          <p:cNvPr id="6" name="Text 3"/>
          <p:cNvSpPr txBox="1"/>
          <p:nvPr/>
        </p:nvSpPr>
        <p:spPr>
          <a:xfrm>
            <a:off x="548640" y="3200400"/>
            <a:ext cx="45720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200" dirty="0">
                <a:solidFill>
                  <a:srgbClr val="2B2118"/>
                </a:solidFill>
                <a:latin typeface="Batang" pitchFamily="34" charset="0"/>
                <a:ea typeface="Batang" pitchFamily="34" charset="-122"/>
                <a:cs typeface="Batang" pitchFamily="34" charset="-120"/>
              </a:rPr>
              <a:t>멈추고, 그리고,</a:t>
            </a:r>
            <a:endParaRPr lang="en-US" sz="2200" dirty="0"/>
          </a:p>
          <a:p>
            <a:pPr marL="0" indent="0">
              <a:buNone/>
            </a:pPr>
            <a:r>
              <a:rPr lang="en-US" sz="2200" dirty="0">
                <a:solidFill>
                  <a:srgbClr val="2B2118"/>
                </a:solidFill>
                <a:latin typeface="Batang" pitchFamily="34" charset="0"/>
                <a:ea typeface="Batang" pitchFamily="34" charset="-122"/>
                <a:cs typeface="Batang" pitchFamily="34" charset="-120"/>
              </a:rPr>
              <a:t>모두 데려가자.</a:t>
            </a:r>
            <a:endParaRPr lang="en-US" sz="2200" dirty="0"/>
          </a:p>
        </p:txBody>
      </p:sp>
      <p:sp>
        <p:nvSpPr>
          <p:cNvPr id="7" name="Text 4"/>
          <p:cNvSpPr txBox="1"/>
          <p:nvPr/>
        </p:nvSpPr>
        <p:spPr>
          <a:xfrm>
            <a:off x="548640" y="4754880"/>
            <a:ext cx="4572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7B6B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물리 그리기 퍼즐 액션 · 물방울 무리 이끌기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7B6B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웹 데모 스테이지 3개 · 2026-10-23</a:t>
            </a:r>
            <a:endParaRPr lang="en-US" sz="1200" dirty="0"/>
          </a:p>
        </p:txBody>
      </p:sp>
      <p:pic>
        <p:nvPicPr>
          <p:cNvPr id="12" name="그림 11">
            <a:extLst>
              <a:ext uri="{FF2B5EF4-FFF2-40B4-BE49-F238E27FC236}">
                <a16:creationId xmlns:a16="http://schemas.microsoft.com/office/drawing/2014/main" id="{969DB60E-12B2-4C62-9399-DFA58508DF6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412973" y="1129805"/>
            <a:ext cx="7339718" cy="4127995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>
            <a:spLocks noGrp="1"/>
          </p:cNvSpPr>
          <p:nvPr>
            <p:ph type="title" idx="101" hasCustomPrompt="1"/>
          </p:nvPr>
        </p:nvSpPr>
        <p:spPr>
          <a:xfrm>
            <a:off x="548640" y="292608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ko-KR" altLang="en-US" dirty="0"/>
              <a:t>개요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548640" y="1188720"/>
            <a:ext cx="11094415" cy="868680"/>
          </a:xfrm>
          <a:prstGeom prst="roundRect">
            <a:avLst>
              <a:gd name="adj" fmla="val 8421"/>
            </a:avLst>
          </a:prstGeom>
          <a:solidFill>
            <a:srgbClr val="FAF6EC"/>
          </a:solidFill>
          <a:ln w="12700">
            <a:solidFill>
              <a:srgbClr val="D8C8A4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822960" y="1298448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00" b="1" dirty="0">
                <a:solidFill>
                  <a:srgbClr val="1F6F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HIGH CONCEPT</a:t>
            </a:r>
            <a:endParaRPr lang="en-US" sz="1000" dirty="0"/>
          </a:p>
        </p:txBody>
      </p:sp>
      <p:sp>
        <p:nvSpPr>
          <p:cNvPr id="5" name="Text 3"/>
          <p:cNvSpPr txBox="1"/>
          <p:nvPr/>
        </p:nvSpPr>
        <p:spPr>
          <a:xfrm>
            <a:off x="822960" y="1554480"/>
            <a:ext cx="1054577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800" dirty="0">
                <a:solidFill>
                  <a:srgbClr val="2B2118"/>
                </a:solidFill>
                <a:latin typeface="Batang" pitchFamily="34" charset="0"/>
                <a:ea typeface="Batang" pitchFamily="34" charset="-122"/>
                <a:cs typeface="Batang" pitchFamily="34" charset="-120"/>
              </a:rPr>
              <a:t>시간을 멈추고 색 물감으로 길을 그려, 스스로 걷는 물방울 무리를 검은 잉크병까지 데려간다.</a:t>
            </a:r>
            <a:endParaRPr lang="en-US" sz="180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266759977"/>
              </p:ext>
            </p:extLst>
          </p:nvPr>
        </p:nvGraphicFramePr>
        <p:xfrm>
          <a:off x="222687" y="2286000"/>
          <a:ext cx="5593742" cy="2792896"/>
        </p:xfrm>
        <a:graphic>
          <a:graphicData uri="http://schemas.openxmlformats.org/drawingml/2006/table">
            <a:tbl>
              <a:tblPr/>
              <a:tblGrid>
                <a:gridCol w="101704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576697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556687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b="1" dirty="0">
                          <a:solidFill>
                            <a:srgbClr val="1F6FE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장르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T="36576" marB="36576" anchor="ctr">
                    <a:lnL w="9525" cap="flat" cmpd="sng" algn="ctr">
                      <a:solidFill>
                        <a:srgbClr val="D8C8A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8A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8A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8A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6E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2B211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물리 그리기 퍼즐 액션 (2D 횡스크롤)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T="36576" marB="36576" anchor="ctr">
                    <a:lnL w="9525" cap="flat" cmpd="sng" algn="ctr">
                      <a:solidFill>
                        <a:srgbClr val="D8C8A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8A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8A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8A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56687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b="1" dirty="0">
                          <a:solidFill>
                            <a:srgbClr val="1F6FE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플레이어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T="36576" marB="36576" anchor="ctr">
                    <a:lnL w="9525" cap="flat" cmpd="sng" algn="ctr">
                      <a:solidFill>
                        <a:srgbClr val="D8C8A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8A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8A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8A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6E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2B211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그림으로만 길을 만든다. 물방울은 스스로 </a:t>
                      </a:r>
                      <a:r>
                        <a:rPr lang="en-US" sz="1200" dirty="0" err="1">
                          <a:solidFill>
                            <a:srgbClr val="2B211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걷고</a:t>
                      </a:r>
                      <a:r>
                        <a:rPr lang="en-US" sz="1200" dirty="0">
                          <a:solidFill>
                            <a:srgbClr val="2B211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 </a:t>
                      </a:r>
                      <a:r>
                        <a:rPr lang="en-US" sz="1200" dirty="0" err="1">
                          <a:solidFill>
                            <a:srgbClr val="2B211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벽에</a:t>
                      </a:r>
                      <a:r>
                        <a:rPr lang="en-US" sz="1200" dirty="0">
                          <a:solidFill>
                            <a:srgbClr val="2B211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 </a:t>
                      </a:r>
                      <a:r>
                        <a:rPr lang="ko-KR" altLang="en-US" sz="1200" dirty="0">
                          <a:solidFill>
                            <a:srgbClr val="2B211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도달하면 뒤로 돈다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T="36576" marB="36576" anchor="ctr">
                    <a:lnL w="9525" cap="flat" cmpd="sng" algn="ctr">
                      <a:solidFill>
                        <a:srgbClr val="D8C8A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8A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8A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8A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56687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b="1" dirty="0">
                          <a:solidFill>
                            <a:srgbClr val="1F6FE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목표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T="36576" marB="36576" anchor="ctr">
                    <a:lnL w="9525" cap="flat" cmpd="sng" algn="ctr">
                      <a:solidFill>
                        <a:srgbClr val="D8C8A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8A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8A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8A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6E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2B211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주인공이 깨운 작은 물방울들을 최대한 많이 검은 잉크병에 데려가 정화한다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T="36576" marB="36576" anchor="ctr">
                    <a:lnL w="9525" cap="flat" cmpd="sng" algn="ctr">
                      <a:solidFill>
                        <a:srgbClr val="D8C8A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8A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8A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8A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56687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b="1" dirty="0">
                          <a:solidFill>
                            <a:srgbClr val="1F6FE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조작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T="36576" marB="36576" anchor="ctr">
                    <a:lnL w="9525" cap="flat" cmpd="sng" algn="ctr">
                      <a:solidFill>
                        <a:srgbClr val="D8C8A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8A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8A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8A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6E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2B211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드래그 = </a:t>
                      </a:r>
                      <a:r>
                        <a:rPr lang="en-US" sz="1200" dirty="0" err="1">
                          <a:solidFill>
                            <a:srgbClr val="2B211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그리기</a:t>
                      </a:r>
                      <a:r>
                        <a:rPr lang="en-US" sz="1200" dirty="0">
                          <a:solidFill>
                            <a:srgbClr val="2B211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 / 스페이스 = 시간 </a:t>
                      </a:r>
                      <a:r>
                        <a:rPr lang="en-US" sz="1200" dirty="0" err="1">
                          <a:solidFill>
                            <a:srgbClr val="2B211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정지</a:t>
                      </a:r>
                      <a:r>
                        <a:rPr lang="en-US" sz="1200" dirty="0">
                          <a:solidFill>
                            <a:srgbClr val="2B211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 / 우클릭 = 선 </a:t>
                      </a:r>
                      <a:r>
                        <a:rPr lang="en-US" sz="1200" dirty="0" err="1">
                          <a:solidFill>
                            <a:srgbClr val="2B211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빨아들이기</a:t>
                      </a:r>
                      <a:r>
                        <a:rPr lang="en-US" sz="1200" dirty="0">
                          <a:solidFill>
                            <a:srgbClr val="2B211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 / 1~5 = 물감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T="36576" marB="36576" anchor="ctr">
                    <a:lnL w="9525" cap="flat" cmpd="sng" algn="ctr">
                      <a:solidFill>
                        <a:srgbClr val="D8C8A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8A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8A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8A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6614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b="1" dirty="0">
                          <a:solidFill>
                            <a:srgbClr val="1F6FE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플랫폼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T="36576" marB="36576" anchor="ctr">
                    <a:lnL w="9525" cap="flat" cmpd="sng" algn="ctr">
                      <a:solidFill>
                        <a:srgbClr val="D8C8A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8A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8A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8A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6E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2B211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PC 웹 (HTML 한 파일, 설치 </a:t>
                      </a:r>
                      <a:r>
                        <a:rPr lang="en-US" sz="1200" dirty="0" err="1">
                          <a:solidFill>
                            <a:srgbClr val="2B211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없음</a:t>
                      </a:r>
                      <a:r>
                        <a:rPr lang="en-US" sz="1200" dirty="0">
                          <a:solidFill>
                            <a:srgbClr val="2B211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)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T="36576" marB="36576" anchor="ctr">
                    <a:lnL w="9525" cap="flat" cmpd="sng" algn="ctr">
                      <a:solidFill>
                        <a:srgbClr val="D8C8A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8A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8A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8A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9" name="Text 5"/>
          <p:cNvSpPr txBox="1"/>
          <p:nvPr/>
        </p:nvSpPr>
        <p:spPr>
          <a:xfrm>
            <a:off x="6004357" y="5669280"/>
            <a:ext cx="473659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00" dirty="0" err="1">
                <a:solidFill>
                  <a:srgbClr val="7B6B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시간을</a:t>
            </a:r>
            <a:r>
              <a:rPr lang="en-US" sz="1000" dirty="0">
                <a:solidFill>
                  <a:srgbClr val="7B6B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멈추고(파란 테두리) </a:t>
            </a:r>
            <a:r>
              <a:rPr lang="ko-KR" altLang="en-US" sz="1000" dirty="0">
                <a:solidFill>
                  <a:srgbClr val="7B6B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빨간 선을 그리는 장면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5855" y="6473952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900">
                <a:solidFill>
                  <a:srgbClr val="7B6B57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lang="en-US" b="0"/>
              <a:t>2</a:t>
            </a:fld>
            <a:endParaRPr lang="en-US"/>
          </a:p>
        </p:txBody>
      </p:sp>
      <p:pic>
        <p:nvPicPr>
          <p:cNvPr id="11" name="그림 10">
            <a:extLst>
              <a:ext uri="{FF2B5EF4-FFF2-40B4-BE49-F238E27FC236}">
                <a16:creationId xmlns:a16="http://schemas.microsoft.com/office/drawing/2014/main" id="{E73A5EB9-7ED5-4B98-902B-E5076AEC175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04357" y="2286000"/>
            <a:ext cx="5964956" cy="3328021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>
            <a:spLocks noGrp="1"/>
          </p:cNvSpPr>
          <p:nvPr>
            <p:ph type="title" idx="101" hasCustomPrompt="1"/>
          </p:nvPr>
        </p:nvSpPr>
        <p:spPr>
          <a:xfrm>
            <a:off x="548640" y="292608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800" b="1" dirty="0" err="1">
                <a:solidFill>
                  <a:srgbClr val="2B2118"/>
                </a:solidFill>
                <a:latin typeface="Batang" pitchFamily="34" charset="0"/>
                <a:ea typeface="Batang" pitchFamily="34" charset="-122"/>
                <a:cs typeface="Batang" pitchFamily="34" charset="-120"/>
              </a:rPr>
              <a:t>레퍼런스</a:t>
            </a:r>
            <a:r>
              <a:rPr lang="en-US" sz="2800" b="1" dirty="0">
                <a:solidFill>
                  <a:srgbClr val="2B2118"/>
                </a:solidFill>
                <a:latin typeface="Batang" pitchFamily="34" charset="0"/>
                <a:ea typeface="Batang" pitchFamily="34" charset="-122"/>
                <a:cs typeface="Batang" pitchFamily="34" charset="-120"/>
              </a:rPr>
              <a:t> </a:t>
            </a:r>
            <a:r>
              <a:rPr lang="ko-KR" altLang="en-US" sz="2800" b="1" dirty="0">
                <a:solidFill>
                  <a:srgbClr val="2B2118"/>
                </a:solidFill>
                <a:latin typeface="Batang" pitchFamily="34" charset="0"/>
                <a:ea typeface="Batang" pitchFamily="34" charset="-122"/>
                <a:cs typeface="Batang" pitchFamily="34" charset="-120"/>
              </a:rPr>
              <a:t>게임</a:t>
            </a:r>
            <a:endParaRPr lang="en-US" sz="280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234440"/>
          <a:ext cx="11091672" cy="3054096"/>
        </p:xfrm>
        <a:graphic>
          <a:graphicData uri="http://schemas.openxmlformats.org/drawingml/2006/table">
            <a:tbl>
              <a:tblPr/>
              <a:tblGrid>
                <a:gridCol w="1143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2402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24028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24028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3227832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566928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T="36576" marB="36576" anchor="ctr">
                    <a:lnL w="9525" cap="flat" cmpd="sng" algn="ctr">
                      <a:solidFill>
                        <a:srgbClr val="D8C8A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8A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8A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8A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6E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2B211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커비 캔버스 커스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2B211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(DS, 2005)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T="36576" marB="36576" anchor="ctr">
                    <a:lnL w="9525" cap="flat" cmpd="sng" algn="ctr">
                      <a:solidFill>
                        <a:srgbClr val="D8C8A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8A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8A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8A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6E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2B211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Lineguard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2B211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(웹, 2026 공개)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T="36576" marB="36576" anchor="ctr">
                    <a:lnL w="9525" cap="flat" cmpd="sng" algn="ctr">
                      <a:solidFill>
                        <a:srgbClr val="D8C8A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8A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8A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8A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6E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2B211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맥스 앤 더 매직 마커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2B211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(PC, 2010)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T="36576" marB="36576" anchor="ctr">
                    <a:lnL w="9525" cap="flat" cmpd="sng" algn="ctr">
                      <a:solidFill>
                        <a:srgbClr val="D8C8A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8A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8A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8A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6E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스톱 앤 스케치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T="36576" marB="36576" anchor="ctr">
                    <a:lnL w="9525" cap="flat" cmpd="sng" algn="ctr">
                      <a:solidFill>
                        <a:srgbClr val="D8C8A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8A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8A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8A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6FE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62179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b="1" dirty="0">
                          <a:solidFill>
                            <a:srgbClr val="1F6FE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캐릭터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T="36576" marB="36576" anchor="ctr">
                    <a:lnL w="9525" cap="flat" cmpd="sng" algn="ctr">
                      <a:solidFill>
                        <a:srgbClr val="D8C8A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8A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8A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8A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6E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2B211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자동 이동 1명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T="36576" marB="36576" anchor="ctr">
                    <a:lnL w="9525" cap="flat" cmpd="sng" algn="ctr">
                      <a:solidFill>
                        <a:srgbClr val="D8C8A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8A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8A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8A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2B211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자동 달리기 1명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T="36576" marB="36576" anchor="ctr">
                    <a:lnL w="9525" cap="flat" cmpd="sng" algn="ctr">
                      <a:solidFill>
                        <a:srgbClr val="D8C8A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8A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8A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8A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2B211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직접 조종 1명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T="36576" marB="36576" anchor="ctr">
                    <a:lnL w="9525" cap="flat" cmpd="sng" algn="ctr">
                      <a:solidFill>
                        <a:srgbClr val="D8C8A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8A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8A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8A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b="1" dirty="0">
                          <a:solidFill>
                            <a:srgbClr val="2B211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스스로 걷는 무리 (주인공 + 따라오는 물방울)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T="36576" marB="36576" anchor="ctr">
                    <a:lnL w="9525" cap="flat" cmpd="sng" algn="ctr">
                      <a:solidFill>
                        <a:srgbClr val="D8C8A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8A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8A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8A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62179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b="1" dirty="0">
                          <a:solidFill>
                            <a:srgbClr val="1F6FE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시간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T="36576" marB="36576" anchor="ctr">
                    <a:lnL w="9525" cap="flat" cmpd="sng" algn="ctr">
                      <a:solidFill>
                        <a:srgbClr val="D8C8A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8A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8A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8A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6E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2B211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그리는 동안 흐름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T="36576" marB="36576" anchor="ctr">
                    <a:lnL w="9525" cap="flat" cmpd="sng" algn="ctr">
                      <a:solidFill>
                        <a:srgbClr val="D8C8A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8A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8A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8A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2B211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그리는 동안 느려짐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T="36576" marB="36576" anchor="ctr">
                    <a:lnL w="9525" cap="flat" cmpd="sng" algn="ctr">
                      <a:solidFill>
                        <a:srgbClr val="D8C8A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8A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8A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8A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2B211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멈춤 (횟수 제한 없음)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T="36576" marB="36576" anchor="ctr">
                    <a:lnL w="9525" cap="flat" cmpd="sng" algn="ctr">
                      <a:solidFill>
                        <a:srgbClr val="D8C8A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8A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8A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8A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b="1" dirty="0">
                          <a:solidFill>
                            <a:srgbClr val="2B211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완전히 멈춤 · 스테이지당 횟수 제한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T="36576" marB="36576" anchor="ctr">
                    <a:lnL w="9525" cap="flat" cmpd="sng" algn="ctr">
                      <a:solidFill>
                        <a:srgbClr val="D8C8A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8A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8A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8A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62179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b="1" dirty="0">
                          <a:solidFill>
                            <a:srgbClr val="1F6FE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선·물감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T="36576" marB="36576" anchor="ctr">
                    <a:lnL w="9525" cap="flat" cmpd="sng" algn="ctr">
                      <a:solidFill>
                        <a:srgbClr val="D8C8A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8A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8A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8A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6E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2B211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1종, 곧 사라짐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T="36576" marB="36576" anchor="ctr">
                    <a:lnL w="9525" cap="flat" cmpd="sng" algn="ctr">
                      <a:solidFill>
                        <a:srgbClr val="D8C8A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8A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8A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8A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2B211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5종 물리 성질, 몇 초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T="36576" marB="36576" anchor="ctr">
                    <a:lnL w="9525" cap="flat" cmpd="sng" algn="ctr">
                      <a:solidFill>
                        <a:srgbClr val="D8C8A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8A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8A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8A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2B211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1종, 그린 물체에 중력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T="36576" marB="36576" anchor="ctr">
                    <a:lnL w="9525" cap="flat" cmpd="sng" algn="ctr">
                      <a:solidFill>
                        <a:srgbClr val="D8C8A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8A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8A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8A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b="1" dirty="0">
                          <a:solidFill>
                            <a:srgbClr val="2B211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5색 물리 성질 · 떨어지는 물체 · 빨아들여 회수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T="36576" marB="36576" anchor="ctr">
                    <a:lnL w="9525" cap="flat" cmpd="sng" algn="ctr">
                      <a:solidFill>
                        <a:srgbClr val="D8C8A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8A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8A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8A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62179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b="1" dirty="0">
                          <a:solidFill>
                            <a:srgbClr val="1F6FE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결과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T="36576" marB="36576" anchor="ctr">
                    <a:lnL w="9525" cap="flat" cmpd="sng" algn="ctr">
                      <a:solidFill>
                        <a:srgbClr val="D8C8A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8A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8A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8A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6E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2B211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도착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T="36576" marB="36576" anchor="ctr">
                    <a:lnL w="9525" cap="flat" cmpd="sng" algn="ctr">
                      <a:solidFill>
                        <a:srgbClr val="D8C8A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8A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8A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8A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2B211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도착 · 별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T="36576" marB="36576" anchor="ctr">
                    <a:lnL w="9525" cap="flat" cmpd="sng" algn="ctr">
                      <a:solidFill>
                        <a:srgbClr val="D8C8A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8A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8A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8A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2B211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도착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T="36576" marB="36576" anchor="ctr">
                    <a:lnL w="9525" cap="flat" cmpd="sng" algn="ctr">
                      <a:solidFill>
                        <a:srgbClr val="D8C8A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8A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8A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8A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b="1" dirty="0">
                          <a:solidFill>
                            <a:srgbClr val="2B211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데려간 비율만큼 잉크병이 맑아짐 (정화 %) · 별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T="36576" marB="36576" anchor="ctr">
                    <a:lnL w="9525" cap="flat" cmpd="sng" algn="ctr">
                      <a:solidFill>
                        <a:srgbClr val="D8C8A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8A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8A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8A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3" name="Shape 1"/>
          <p:cNvSpPr/>
          <p:nvPr/>
        </p:nvSpPr>
        <p:spPr>
          <a:xfrm>
            <a:off x="548640" y="4572000"/>
            <a:ext cx="11094415" cy="1188720"/>
          </a:xfrm>
          <a:prstGeom prst="roundRect">
            <a:avLst>
              <a:gd name="adj" fmla="val 6154"/>
            </a:avLst>
          </a:prstGeom>
          <a:solidFill>
            <a:srgbClr val="FFFFFF"/>
          </a:solidFill>
          <a:ln w="19050">
            <a:solidFill>
              <a:srgbClr val="1F6FE0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822960" y="470916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b="1" dirty="0">
                <a:solidFill>
                  <a:srgbClr val="1F6F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차별성의 핵심</a:t>
            </a:r>
            <a:endParaRPr lang="en-US" sz="1200" dirty="0"/>
          </a:p>
        </p:txBody>
      </p:sp>
      <p:sp>
        <p:nvSpPr>
          <p:cNvPr id="6" name="Text 3"/>
          <p:cNvSpPr txBox="1"/>
          <p:nvPr/>
        </p:nvSpPr>
        <p:spPr>
          <a:xfrm>
            <a:off x="822960" y="5010912"/>
            <a:ext cx="1054577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dirty="0">
                <a:solidFill>
                  <a:srgbClr val="2B211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"그린 대로 움직인다"는 익숙한 재미 위에 </a:t>
            </a:r>
            <a:r>
              <a:rPr lang="en-US" sz="1400" b="1" dirty="0">
                <a:solidFill>
                  <a:srgbClr val="2B211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① 완전히 멈출 수 있는 횟수</a:t>
            </a:r>
            <a:r>
              <a:rPr lang="en-US" sz="1400" dirty="0">
                <a:solidFill>
                  <a:srgbClr val="2B211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와 </a:t>
            </a:r>
            <a:r>
              <a:rPr lang="en-US" sz="1400" b="1" dirty="0">
                <a:solidFill>
                  <a:srgbClr val="2B211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② 색마다 다른 물리 성질</a:t>
            </a:r>
            <a:r>
              <a:rPr lang="en-US" sz="1400" dirty="0">
                <a:solidFill>
                  <a:srgbClr val="2B211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을 얹고, 한 마리가 아니라 </a:t>
            </a:r>
            <a:r>
              <a:rPr lang="en-US" sz="1400" b="1" dirty="0">
                <a:solidFill>
                  <a:srgbClr val="2B211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③ 따라오는 무리</a:t>
            </a:r>
            <a:r>
              <a:rPr lang="en-US" sz="1400" dirty="0">
                <a:solidFill>
                  <a:srgbClr val="2B211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를 데려가게 했다. 멈춘 순간 어떤 색을 어디에 걸칠지가 곧 무리 전체의 운명이 된다.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5855" y="6473952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900">
                <a:solidFill>
                  <a:srgbClr val="7B6B57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lang="en-US" b="0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>
            <a:spLocks noGrp="1"/>
          </p:cNvSpPr>
          <p:nvPr>
            <p:ph type="title" idx="101" hasCustomPrompt="1"/>
          </p:nvPr>
        </p:nvSpPr>
        <p:spPr>
          <a:xfrm>
            <a:off x="548640" y="292608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800" b="1" dirty="0">
                <a:solidFill>
                  <a:srgbClr val="2B2118"/>
                </a:solidFill>
                <a:latin typeface="Batang" pitchFamily="34" charset="0"/>
                <a:ea typeface="Batang" pitchFamily="34" charset="-122"/>
                <a:cs typeface="Batang" pitchFamily="34" charset="-120"/>
              </a:rPr>
              <a:t>시장: 그린 선이 물리로 움직이는 게임은 꾸준히 팔렸다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548640" y="1234440"/>
            <a:ext cx="2834640" cy="2057400"/>
          </a:xfrm>
          <a:prstGeom prst="roundRect">
            <a:avLst>
              <a:gd name="adj" fmla="val 3556"/>
            </a:avLst>
          </a:prstGeom>
          <a:solidFill>
            <a:srgbClr val="FAF6EC"/>
          </a:solidFill>
          <a:ln w="12700">
            <a:solidFill>
              <a:srgbClr val="D8C8A4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77240" y="1554480"/>
            <a:ext cx="2468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800" b="1" dirty="0">
                <a:solidFill>
                  <a:srgbClr val="E0312B"/>
                </a:solidFill>
                <a:latin typeface="Batang" pitchFamily="34" charset="0"/>
                <a:ea typeface="Batang" pitchFamily="34" charset="-122"/>
                <a:cs typeface="Batang" pitchFamily="34" charset="-120"/>
              </a:rPr>
              <a:t>약 130만 장</a:t>
            </a:r>
            <a:endParaRPr lang="en-US" sz="2800" dirty="0"/>
          </a:p>
        </p:txBody>
      </p:sp>
      <p:sp>
        <p:nvSpPr>
          <p:cNvPr id="5" name="Text 3"/>
          <p:cNvSpPr txBox="1"/>
          <p:nvPr/>
        </p:nvSpPr>
        <p:spPr>
          <a:xfrm>
            <a:off x="777240" y="2331720"/>
            <a:ext cx="2468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b="1" dirty="0">
                <a:solidFill>
                  <a:srgbClr val="2B211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커비 캔버스 커스 + 후속</a:t>
            </a:r>
            <a:endParaRPr lang="en-US" sz="1300" dirty="0"/>
          </a:p>
        </p:txBody>
      </p:sp>
      <p:sp>
        <p:nvSpPr>
          <p:cNvPr id="6" name="Text 4"/>
          <p:cNvSpPr txBox="1"/>
          <p:nvPr/>
        </p:nvSpPr>
        <p:spPr>
          <a:xfrm>
            <a:off x="777240" y="2697480"/>
            <a:ext cx="2468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7B6B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1편 약 72만 · 후속 약 58만 (추정)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3566160" y="1234440"/>
            <a:ext cx="2834640" cy="2057400"/>
          </a:xfrm>
          <a:prstGeom prst="roundRect">
            <a:avLst>
              <a:gd name="adj" fmla="val 3556"/>
            </a:avLst>
          </a:prstGeom>
          <a:solidFill>
            <a:srgbClr val="FAF6EC"/>
          </a:solidFill>
          <a:ln w="12700">
            <a:solidFill>
              <a:srgbClr val="D8C8A4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3794760" y="1554480"/>
            <a:ext cx="2468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800" b="1" dirty="0">
                <a:solidFill>
                  <a:srgbClr val="1F6FE0"/>
                </a:solidFill>
                <a:latin typeface="Batang" pitchFamily="34" charset="0"/>
                <a:ea typeface="Batang" pitchFamily="34" charset="-122"/>
                <a:cs typeface="Batang" pitchFamily="34" charset="-120"/>
              </a:rPr>
              <a:t>350만 장</a:t>
            </a:r>
            <a:endParaRPr lang="en-US" sz="2800" dirty="0"/>
          </a:p>
        </p:txBody>
      </p:sp>
      <p:sp>
        <p:nvSpPr>
          <p:cNvPr id="9" name="Text 7"/>
          <p:cNvSpPr txBox="1"/>
          <p:nvPr/>
        </p:nvSpPr>
        <p:spPr>
          <a:xfrm>
            <a:off x="3794760" y="2331720"/>
            <a:ext cx="2468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b="1" dirty="0">
                <a:solidFill>
                  <a:srgbClr val="2B211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Drawn to Life 시리즈</a:t>
            </a:r>
            <a:endParaRPr lang="en-US" sz="1300" dirty="0"/>
          </a:p>
        </p:txBody>
      </p:sp>
      <p:sp>
        <p:nvSpPr>
          <p:cNvPr id="10" name="Text 8"/>
          <p:cNvSpPr txBox="1"/>
          <p:nvPr/>
        </p:nvSpPr>
        <p:spPr>
          <a:xfrm>
            <a:off x="3794760" y="2697480"/>
            <a:ext cx="2468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7B6B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그린 것이 게임 속 물체가 되는 플랫포머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548640" y="3474720"/>
            <a:ext cx="2834640" cy="2057400"/>
          </a:xfrm>
          <a:prstGeom prst="roundRect">
            <a:avLst>
              <a:gd name="adj" fmla="val 3556"/>
            </a:avLst>
          </a:prstGeom>
          <a:solidFill>
            <a:srgbClr val="FAF6EC"/>
          </a:solidFill>
          <a:ln w="12700">
            <a:solidFill>
              <a:srgbClr val="D8C8A4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777240" y="3794760"/>
            <a:ext cx="2468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800" b="1" dirty="0">
                <a:solidFill>
                  <a:srgbClr val="1FA655"/>
                </a:solidFill>
                <a:latin typeface="Batang" pitchFamily="34" charset="0"/>
                <a:ea typeface="Batang" pitchFamily="34" charset="-122"/>
                <a:cs typeface="Batang" pitchFamily="34" charset="-120"/>
              </a:rPr>
              <a:t>66만 다운로드</a:t>
            </a:r>
            <a:endParaRPr lang="en-US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777240" y="4572000"/>
            <a:ext cx="2468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b="1" dirty="0">
                <a:solidFill>
                  <a:srgbClr val="2B211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Draw a Stickman: EPIC</a:t>
            </a:r>
            <a:endParaRPr lang="en-US" sz="1300" dirty="0"/>
          </a:p>
        </p:txBody>
      </p:sp>
      <p:sp>
        <p:nvSpPr>
          <p:cNvPr id="14" name="Text 12"/>
          <p:cNvSpPr txBox="1"/>
          <p:nvPr/>
        </p:nvSpPr>
        <p:spPr>
          <a:xfrm>
            <a:off x="777240" y="4937760"/>
            <a:ext cx="2468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7B6B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출시 한 달 (개발사 발표)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3566160" y="3474720"/>
            <a:ext cx="2834640" cy="2057400"/>
          </a:xfrm>
          <a:prstGeom prst="roundRect">
            <a:avLst>
              <a:gd name="adj" fmla="val 3556"/>
            </a:avLst>
          </a:prstGeom>
          <a:solidFill>
            <a:srgbClr val="FAF6EC"/>
          </a:solidFill>
          <a:ln w="12700">
            <a:solidFill>
              <a:srgbClr val="D8C8A4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3794760" y="3794760"/>
            <a:ext cx="2468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800" b="1" dirty="0">
                <a:solidFill>
                  <a:srgbClr val="C99A00"/>
                </a:solidFill>
                <a:latin typeface="Batang" pitchFamily="34" charset="0"/>
                <a:ea typeface="Batang" pitchFamily="34" charset="-122"/>
                <a:cs typeface="Batang" pitchFamily="34" charset="-120"/>
              </a:rPr>
              <a:t>55.7만 평가</a:t>
            </a:r>
            <a:endParaRPr lang="en-US" sz="2800" dirty="0"/>
          </a:p>
        </p:txBody>
      </p:sp>
      <p:sp>
        <p:nvSpPr>
          <p:cNvPr id="17" name="Text 15"/>
          <p:cNvSpPr txBox="1"/>
          <p:nvPr/>
        </p:nvSpPr>
        <p:spPr>
          <a:xfrm>
            <a:off x="3794760" y="4572000"/>
            <a:ext cx="2468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b="1" dirty="0">
                <a:solidFill>
                  <a:srgbClr val="2B211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Love Balls</a:t>
            </a:r>
            <a:endParaRPr lang="en-US" sz="1300" dirty="0"/>
          </a:p>
        </p:txBody>
      </p:sp>
      <p:sp>
        <p:nvSpPr>
          <p:cNvPr id="18" name="Text 16"/>
          <p:cNvSpPr txBox="1"/>
          <p:nvPr/>
        </p:nvSpPr>
        <p:spPr>
          <a:xfrm>
            <a:off x="3794760" y="4937760"/>
            <a:ext cx="2468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7B6B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App Store 평가 수 · "선을 그리면 물리로"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6720840" y="1234440"/>
            <a:ext cx="4922215" cy="1783080"/>
          </a:xfrm>
          <a:prstGeom prst="roundRect">
            <a:avLst>
              <a:gd name="adj" fmla="val 4103"/>
            </a:avLst>
          </a:prstGeom>
          <a:solidFill>
            <a:srgbClr val="FFFFFF"/>
          </a:solidFill>
          <a:ln w="19050">
            <a:solidFill>
              <a:srgbClr val="1F6FE0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6995160" y="137160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b="1" dirty="0">
                <a:solidFill>
                  <a:srgbClr val="1F6F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우리 위치</a:t>
            </a:r>
            <a:endParaRPr lang="en-US" sz="1200" dirty="0"/>
          </a:p>
        </p:txBody>
      </p:sp>
      <p:sp>
        <p:nvSpPr>
          <p:cNvPr id="21" name="Text 19"/>
          <p:cNvSpPr txBox="1"/>
          <p:nvPr/>
        </p:nvSpPr>
        <p:spPr>
          <a:xfrm>
            <a:off x="6995160" y="1719072"/>
            <a:ext cx="4373575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dirty="0">
                <a:solidFill>
                  <a:srgbClr val="2B211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"그린 대로 움직인다"는 장면은 설명 없이 바로 통하고, 숏폼으로 퍼지기 좋다. 여기에 멈춤 · 색 성질 · 무리를 얹어 짧은 판을 반복하는 PC 캐주얼 퍼즐로 간다.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6720840" y="3200400"/>
            <a:ext cx="4922215" cy="2468880"/>
          </a:xfrm>
          <a:prstGeom prst="roundRect">
            <a:avLst>
              <a:gd name="adj" fmla="val 2963"/>
            </a:avLst>
          </a:prstGeom>
          <a:solidFill>
            <a:srgbClr val="FAF6EC"/>
          </a:solidFill>
          <a:ln w="12700">
            <a:solidFill>
              <a:srgbClr val="D8C8A4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6995160" y="333756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b="1" dirty="0">
                <a:solidFill>
                  <a:srgbClr val="E03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한계와 대응</a:t>
            </a:r>
            <a:endParaRPr lang="en-US" sz="1200" dirty="0"/>
          </a:p>
        </p:txBody>
      </p:sp>
      <p:sp>
        <p:nvSpPr>
          <p:cNvPr id="24" name="Text 22"/>
          <p:cNvSpPr txBox="1"/>
          <p:nvPr/>
        </p:nvSpPr>
        <p:spPr>
          <a:xfrm>
            <a:off x="6995160" y="3685032"/>
            <a:ext cx="4373575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2B211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큰 성과는 2005~2012년 작품과 닌텐도 IP·모바일 무료 시장의 것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2B211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최근 PC·웹 신작(Draw · Inkrunner · Lineguard)은 평가는 좋지만 규모가 작거나 아직 모름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2B211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최근작의 약점은 단조로움 → 스테이지마다 새 색·장치를 하나씩</a:t>
            </a:r>
            <a:endParaRPr lang="en-US" sz="1300" dirty="0"/>
          </a:p>
        </p:txBody>
      </p:sp>
      <p:sp>
        <p:nvSpPr>
          <p:cNvPr id="25" name="Text 23"/>
          <p:cNvSpPr txBox="1"/>
          <p:nvPr/>
        </p:nvSpPr>
        <p:spPr>
          <a:xfrm>
            <a:off x="548640" y="5760720"/>
            <a:ext cx="5852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7B6B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판매량은 추정치가 섞여 있음 (조사 2026-10-19, 첨부 레퍼런스 성과 조사표)</a:t>
            </a:r>
            <a:endParaRPr lang="en-US" sz="900" dirty="0"/>
          </a:p>
        </p:txBody>
      </p:sp>
      <p:sp>
        <p:nvSpPr>
          <p:cNvPr id="26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5855" y="6473952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900">
                <a:solidFill>
                  <a:srgbClr val="7B6B57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lang="en-US" b="0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>
            <a:spLocks noGrp="1"/>
          </p:cNvSpPr>
          <p:nvPr>
            <p:ph type="title" idx="101" hasCustomPrompt="1"/>
          </p:nvPr>
        </p:nvSpPr>
        <p:spPr>
          <a:xfrm>
            <a:off x="548640" y="292608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800" b="1" dirty="0">
                <a:solidFill>
                  <a:srgbClr val="2B2118"/>
                </a:solidFill>
                <a:latin typeface="Batang" pitchFamily="34" charset="0"/>
                <a:ea typeface="Batang" pitchFamily="34" charset="-122"/>
                <a:cs typeface="Batang" pitchFamily="34" charset="-120"/>
              </a:rPr>
              <a:t>핵심 재미 네 가지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548640" y="1325880"/>
            <a:ext cx="2567864" cy="2926080"/>
          </a:xfrm>
          <a:prstGeom prst="roundRect">
            <a:avLst>
              <a:gd name="adj" fmla="val 2849"/>
            </a:avLst>
          </a:prstGeom>
          <a:solidFill>
            <a:srgbClr val="FAF6EC"/>
          </a:solidFill>
          <a:ln w="12700">
            <a:solidFill>
              <a:srgbClr val="D8C8A4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77240" y="1600200"/>
            <a:ext cx="384048" cy="384048"/>
          </a:xfrm>
          <a:prstGeom prst="ellipse">
            <a:avLst/>
          </a:prstGeom>
          <a:solidFill>
            <a:srgbClr val="1F6FE0"/>
          </a:solidFill>
          <a:ln w="12700">
            <a:solidFill>
              <a:srgbClr val="1F6FE0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77240" y="1600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777240" y="2148840"/>
            <a:ext cx="211066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800" b="1" dirty="0">
                <a:solidFill>
                  <a:srgbClr val="2B2118"/>
                </a:solidFill>
                <a:latin typeface="Batang" pitchFamily="34" charset="0"/>
                <a:ea typeface="Batang" pitchFamily="34" charset="-122"/>
                <a:cs typeface="Batang" pitchFamily="34" charset="-120"/>
              </a:rPr>
              <a:t>어디서 멈출까</a:t>
            </a:r>
            <a:endParaRPr lang="en-US" sz="1800" dirty="0"/>
          </a:p>
        </p:txBody>
      </p:sp>
      <p:sp>
        <p:nvSpPr>
          <p:cNvPr id="7" name="Text 5"/>
          <p:cNvSpPr txBox="1"/>
          <p:nvPr/>
        </p:nvSpPr>
        <p:spPr>
          <a:xfrm>
            <a:off x="777240" y="2697480"/>
            <a:ext cx="2110664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dirty="0">
                <a:solidFill>
                  <a:srgbClr val="2B211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시간을 완전히 멈출 수 있는 횟수가 정해져 있다. 걸으며 그릴 곳과 멈춰서 설계할 곳을 고르는 것이 전략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3390824" y="1325880"/>
            <a:ext cx="2567864" cy="2926080"/>
          </a:xfrm>
          <a:prstGeom prst="roundRect">
            <a:avLst>
              <a:gd name="adj" fmla="val 2849"/>
            </a:avLst>
          </a:prstGeom>
          <a:solidFill>
            <a:srgbClr val="FAF6EC"/>
          </a:solidFill>
          <a:ln w="12700">
            <a:solidFill>
              <a:srgbClr val="D8C8A4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3619424" y="1600200"/>
            <a:ext cx="384048" cy="384048"/>
          </a:xfrm>
          <a:prstGeom prst="ellipse">
            <a:avLst/>
          </a:prstGeom>
          <a:solidFill>
            <a:srgbClr val="E0312B"/>
          </a:solidFill>
          <a:ln w="12700">
            <a:solidFill>
              <a:srgbClr val="E0312B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3619424" y="1600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3619424" y="2148840"/>
            <a:ext cx="211066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800" b="1" dirty="0">
                <a:solidFill>
                  <a:srgbClr val="2B2118"/>
                </a:solidFill>
                <a:latin typeface="Batang" pitchFamily="34" charset="0"/>
                <a:ea typeface="Batang" pitchFamily="34" charset="-122"/>
                <a:cs typeface="Batang" pitchFamily="34" charset="-120"/>
              </a:rPr>
              <a:t>색마다 다른 성질</a:t>
            </a:r>
            <a:endParaRPr lang="en-US" sz="1800" dirty="0"/>
          </a:p>
        </p:txBody>
      </p:sp>
      <p:sp>
        <p:nvSpPr>
          <p:cNvPr id="12" name="Text 10"/>
          <p:cNvSpPr txBox="1"/>
          <p:nvPr/>
        </p:nvSpPr>
        <p:spPr>
          <a:xfrm>
            <a:off x="3619424" y="2697480"/>
            <a:ext cx="2110664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dirty="0">
                <a:solidFill>
                  <a:srgbClr val="2B211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검정 다리 · 빨강 튕김 · 파랑 가속 · 초록 엘리베이터 · 노랑 지우개. 상황에 맞는 성질을 골라 쓴다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6233008" y="1325880"/>
            <a:ext cx="2567864" cy="2926080"/>
          </a:xfrm>
          <a:prstGeom prst="roundRect">
            <a:avLst>
              <a:gd name="adj" fmla="val 2849"/>
            </a:avLst>
          </a:prstGeom>
          <a:solidFill>
            <a:srgbClr val="FAF6EC"/>
          </a:solidFill>
          <a:ln w="12700">
            <a:solidFill>
              <a:srgbClr val="D8C8A4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461608" y="1600200"/>
            <a:ext cx="384048" cy="384048"/>
          </a:xfrm>
          <a:prstGeom prst="ellipse">
            <a:avLst/>
          </a:prstGeom>
          <a:solidFill>
            <a:srgbClr val="1FA655"/>
          </a:solidFill>
          <a:ln w="12700">
            <a:solidFill>
              <a:srgbClr val="1FA655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6461608" y="1600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6461608" y="2148840"/>
            <a:ext cx="211066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800" b="1" dirty="0">
                <a:solidFill>
                  <a:srgbClr val="2B2118"/>
                </a:solidFill>
                <a:latin typeface="Batang" pitchFamily="34" charset="0"/>
                <a:ea typeface="Batang" pitchFamily="34" charset="-122"/>
                <a:cs typeface="Batang" pitchFamily="34" charset="-120"/>
              </a:rPr>
              <a:t>그린 선이 진짜 물체</a:t>
            </a:r>
            <a:endParaRPr lang="en-US" sz="1800" dirty="0"/>
          </a:p>
        </p:txBody>
      </p:sp>
      <p:sp>
        <p:nvSpPr>
          <p:cNvPr id="17" name="Text 15"/>
          <p:cNvSpPr txBox="1"/>
          <p:nvPr/>
        </p:nvSpPr>
        <p:spPr>
          <a:xfrm>
            <a:off x="6461608" y="2697480"/>
            <a:ext cx="2110664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dirty="0">
                <a:solidFill>
                  <a:srgbClr val="2B211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선은 떨어지고 걸쳐진다. "어디에 걸쳐야 버틸까"를 생각하고, 다 쓴 선은 빨아들여 다시 쓴다</a:t>
            </a:r>
            <a:endParaRPr lang="en-US" sz="1400" dirty="0"/>
          </a:p>
        </p:txBody>
      </p:sp>
      <p:sp>
        <p:nvSpPr>
          <p:cNvPr id="18" name="Shape 16"/>
          <p:cNvSpPr/>
          <p:nvPr/>
        </p:nvSpPr>
        <p:spPr>
          <a:xfrm>
            <a:off x="9075191" y="1325880"/>
            <a:ext cx="2567864" cy="2926080"/>
          </a:xfrm>
          <a:prstGeom prst="roundRect">
            <a:avLst>
              <a:gd name="adj" fmla="val 2849"/>
            </a:avLst>
          </a:prstGeom>
          <a:solidFill>
            <a:srgbClr val="FAF6EC"/>
          </a:solidFill>
          <a:ln w="12700">
            <a:solidFill>
              <a:srgbClr val="D8C8A4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9303791" y="1600200"/>
            <a:ext cx="384048" cy="384048"/>
          </a:xfrm>
          <a:prstGeom prst="ellipse">
            <a:avLst/>
          </a:prstGeom>
          <a:solidFill>
            <a:srgbClr val="C99A00"/>
          </a:solidFill>
          <a:ln w="12700">
            <a:solidFill>
              <a:srgbClr val="C99A00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9303791" y="1600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</a:t>
            </a:r>
            <a:endParaRPr lang="en-US" sz="1400" dirty="0"/>
          </a:p>
        </p:txBody>
      </p:sp>
      <p:sp>
        <p:nvSpPr>
          <p:cNvPr id="21" name="Text 19"/>
          <p:cNvSpPr txBox="1"/>
          <p:nvPr/>
        </p:nvSpPr>
        <p:spPr>
          <a:xfrm>
            <a:off x="9303791" y="2148840"/>
            <a:ext cx="211066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800" b="1" dirty="0">
                <a:solidFill>
                  <a:srgbClr val="2B2118"/>
                </a:solidFill>
                <a:latin typeface="Batang" pitchFamily="34" charset="0"/>
                <a:ea typeface="Batang" pitchFamily="34" charset="-122"/>
                <a:cs typeface="Batang" pitchFamily="34" charset="-120"/>
              </a:rPr>
              <a:t>무리를 지키는 긴장</a:t>
            </a:r>
            <a:endParaRPr lang="en-US" sz="1800" dirty="0"/>
          </a:p>
        </p:txBody>
      </p:sp>
      <p:sp>
        <p:nvSpPr>
          <p:cNvPr id="22" name="Text 20"/>
          <p:cNvSpPr txBox="1"/>
          <p:nvPr/>
        </p:nvSpPr>
        <p:spPr>
          <a:xfrm>
            <a:off x="9303791" y="2697480"/>
            <a:ext cx="2110664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dirty="0">
                <a:solidFill>
                  <a:srgbClr val="2B211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주인공만 도착해도 클리어. 하지만 많이 데려갈수록 잉크병이 맑아진다. 함께 튕겨 오르는 장면이 보상</a:t>
            </a:r>
            <a:endParaRPr lang="en-US" sz="1400" dirty="0"/>
          </a:p>
        </p:txBody>
      </p:sp>
      <p:sp>
        <p:nvSpPr>
          <p:cNvPr id="23" name="Shape 21"/>
          <p:cNvSpPr/>
          <p:nvPr/>
        </p:nvSpPr>
        <p:spPr>
          <a:xfrm>
            <a:off x="548640" y="4526280"/>
            <a:ext cx="11094415" cy="868680"/>
          </a:xfrm>
          <a:prstGeom prst="roundRect">
            <a:avLst>
              <a:gd name="adj" fmla="val 8421"/>
            </a:avLst>
          </a:prstGeom>
          <a:solidFill>
            <a:srgbClr val="FFFFFF"/>
          </a:solidFill>
          <a:ln w="12700">
            <a:solidFill>
              <a:srgbClr val="D8C8A4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822960" y="4526280"/>
            <a:ext cx="1054577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1F6F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한 줄로   </a:t>
            </a:r>
            <a:r>
              <a:rPr lang="en-US" sz="1700" dirty="0">
                <a:solidFill>
                  <a:srgbClr val="2B2118"/>
                </a:solidFill>
                <a:latin typeface="Batang" pitchFamily="34" charset="0"/>
                <a:ea typeface="Batang" pitchFamily="34" charset="-122"/>
                <a:cs typeface="Batang" pitchFamily="34" charset="-120"/>
              </a:rPr>
              <a:t>멈추고, 색을 골라 그린 길로, 스스로 걷는 물방울 무리를 최대한 많이 데려간다.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5855" y="6473952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900">
                <a:solidFill>
                  <a:srgbClr val="7B6B57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lang="en-US" b="0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>
            <a:spLocks noGrp="1"/>
          </p:cNvSpPr>
          <p:nvPr>
            <p:ph type="title" idx="101" hasCustomPrompt="1"/>
          </p:nvPr>
        </p:nvSpPr>
        <p:spPr>
          <a:xfrm>
            <a:off x="548640" y="292608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800" b="1" dirty="0">
                <a:solidFill>
                  <a:srgbClr val="2B2118"/>
                </a:solidFill>
                <a:latin typeface="Batang" pitchFamily="34" charset="0"/>
                <a:ea typeface="Batang" pitchFamily="34" charset="-122"/>
                <a:cs typeface="Batang" pitchFamily="34" charset="-120"/>
              </a:rPr>
              <a:t>한 판의 흐름: 읽고, 멈춰 그리고, 지켜보고, 데려간다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548640" y="1371600"/>
            <a:ext cx="329184" cy="329184"/>
          </a:xfrm>
          <a:prstGeom prst="ellipse">
            <a:avLst/>
          </a:prstGeom>
          <a:solidFill>
            <a:srgbClr val="1F6FE0"/>
          </a:solidFill>
          <a:ln w="12700">
            <a:solidFill>
              <a:srgbClr val="1F6FE0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548640" y="137160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1389888"/>
            <a:ext cx="219067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b="1" dirty="0">
                <a:solidFill>
                  <a:srgbClr val="2B211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멈추고 그리기</a:t>
            </a:r>
            <a:endParaRPr lang="en-US" sz="1400" dirty="0"/>
          </a:p>
        </p:txBody>
      </p:sp>
      <p:pic>
        <p:nvPicPr>
          <p:cNvPr id="6" name="Image 0" descr="D:\stopsketch\데모제출\2_대표이미지\01_시간정지_색골라그리기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1828800"/>
            <a:ext cx="2602154" cy="1463712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48640" y="1828800"/>
            <a:ext cx="2602154" cy="1463712"/>
          </a:xfrm>
          <a:prstGeom prst="rect">
            <a:avLst/>
          </a:prstGeom>
          <a:ln w="12700">
            <a:solidFill>
              <a:srgbClr val="D8C8A4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548640" y="3383952"/>
            <a:ext cx="260215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dirty="0">
                <a:solidFill>
                  <a:srgbClr val="2B211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스페이스로 멈추고 색을 골라 그린다. 재생하면 선이 떨어진다</a:t>
            </a:r>
            <a:endParaRPr lang="en-US" sz="1300" dirty="0"/>
          </a:p>
        </p:txBody>
      </p:sp>
      <p:sp>
        <p:nvSpPr>
          <p:cNvPr id="9" name="Shape 6"/>
          <p:cNvSpPr/>
          <p:nvPr/>
        </p:nvSpPr>
        <p:spPr>
          <a:xfrm>
            <a:off x="548640" y="4161192"/>
            <a:ext cx="2602154" cy="548640"/>
          </a:xfrm>
          <a:prstGeom prst="roundRect">
            <a:avLst>
              <a:gd name="adj" fmla="val 13333"/>
            </a:avLst>
          </a:prstGeom>
          <a:solidFill>
            <a:srgbClr val="FAF6EC"/>
          </a:solidFill>
          <a:ln w="12700">
            <a:solidFill>
              <a:srgbClr val="D8C8A4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548640" y="4161192"/>
            <a:ext cx="260215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dirty="0">
                <a:solidFill>
                  <a:srgbClr val="7B6B57"/>
                </a:solidFill>
                <a:latin typeface="Batang" pitchFamily="34" charset="0"/>
                <a:ea typeface="Batang" pitchFamily="34" charset="-122"/>
                <a:cs typeface="Batang" pitchFamily="34" charset="-120"/>
              </a:rPr>
              <a:t>"어디에 걸칠까"</a:t>
            </a:r>
            <a:endParaRPr lang="en-US" sz="1300" dirty="0"/>
          </a:p>
        </p:txBody>
      </p:sp>
      <p:sp>
        <p:nvSpPr>
          <p:cNvPr id="11" name="Shape 8"/>
          <p:cNvSpPr/>
          <p:nvPr/>
        </p:nvSpPr>
        <p:spPr>
          <a:xfrm>
            <a:off x="3379394" y="1371600"/>
            <a:ext cx="329184" cy="329184"/>
          </a:xfrm>
          <a:prstGeom prst="ellipse">
            <a:avLst/>
          </a:prstGeom>
          <a:solidFill>
            <a:srgbClr val="E0312B"/>
          </a:solidFill>
          <a:ln w="12700">
            <a:solidFill>
              <a:srgbClr val="E0312B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3379394" y="137160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</a:t>
            </a:r>
            <a:endParaRPr lang="en-US" sz="1400" dirty="0"/>
          </a:p>
        </p:txBody>
      </p:sp>
      <p:sp>
        <p:nvSpPr>
          <p:cNvPr id="13" name="Text 10"/>
          <p:cNvSpPr txBox="1"/>
          <p:nvPr/>
        </p:nvSpPr>
        <p:spPr>
          <a:xfrm>
            <a:off x="3790874" y="1389888"/>
            <a:ext cx="219067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b="1" dirty="0">
                <a:solidFill>
                  <a:srgbClr val="2B211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함께 움직이는 무리</a:t>
            </a:r>
            <a:endParaRPr lang="en-US" sz="1400" dirty="0"/>
          </a:p>
        </p:txBody>
      </p:sp>
      <p:pic>
        <p:nvPicPr>
          <p:cNvPr id="14" name="Image 1" descr="D:\stopsketch\데모제출\2_대표이미지\06_줄지어_튕겨올라_공중물방울_깨우기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379394" y="1828800"/>
            <a:ext cx="2602154" cy="1463712"/>
          </a:xfrm>
          <a:prstGeom prst="rect">
            <a:avLst/>
          </a:prstGeom>
        </p:spPr>
      </p:pic>
      <p:sp>
        <p:nvSpPr>
          <p:cNvPr id="15" name="Shape 11"/>
          <p:cNvSpPr/>
          <p:nvPr/>
        </p:nvSpPr>
        <p:spPr>
          <a:xfrm>
            <a:off x="3379394" y="1828800"/>
            <a:ext cx="2602154" cy="1463712"/>
          </a:xfrm>
          <a:prstGeom prst="rect">
            <a:avLst/>
          </a:prstGeom>
          <a:ln w="12700">
            <a:solidFill>
              <a:srgbClr val="D8C8A4"/>
            </a:solidFill>
            <a:prstDash val="solid"/>
          </a:ln>
        </p:spPr>
      </p:sp>
      <p:sp>
        <p:nvSpPr>
          <p:cNvPr id="16" name="Text 12"/>
          <p:cNvSpPr txBox="1"/>
          <p:nvPr/>
        </p:nvSpPr>
        <p:spPr>
          <a:xfrm>
            <a:off x="3379394" y="3383952"/>
            <a:ext cx="260215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dirty="0">
                <a:solidFill>
                  <a:srgbClr val="2B211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대열이 주인공 발자국을 따라 함께 튕기고, 잠든 물방울을 깨운다</a:t>
            </a:r>
            <a:endParaRPr lang="en-US" sz="1300" dirty="0"/>
          </a:p>
        </p:txBody>
      </p:sp>
      <p:sp>
        <p:nvSpPr>
          <p:cNvPr id="17" name="Shape 13"/>
          <p:cNvSpPr/>
          <p:nvPr/>
        </p:nvSpPr>
        <p:spPr>
          <a:xfrm>
            <a:off x="3379394" y="4161192"/>
            <a:ext cx="2602154" cy="548640"/>
          </a:xfrm>
          <a:prstGeom prst="roundRect">
            <a:avLst>
              <a:gd name="adj" fmla="val 13333"/>
            </a:avLst>
          </a:prstGeom>
          <a:solidFill>
            <a:srgbClr val="FAF6EC"/>
          </a:solidFill>
          <a:ln w="12700">
            <a:solidFill>
              <a:srgbClr val="D8C8A4"/>
            </a:solidFill>
            <a:prstDash val="solid"/>
          </a:ln>
        </p:spPr>
      </p:sp>
      <p:sp>
        <p:nvSpPr>
          <p:cNvPr id="18" name="Text 14"/>
          <p:cNvSpPr txBox="1"/>
          <p:nvPr/>
        </p:nvSpPr>
        <p:spPr>
          <a:xfrm>
            <a:off x="3379394" y="4161192"/>
            <a:ext cx="260215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dirty="0">
                <a:solidFill>
                  <a:srgbClr val="7B6B57"/>
                </a:solidFill>
                <a:latin typeface="Batang" pitchFamily="34" charset="0"/>
                <a:ea typeface="Batang" pitchFamily="34" charset="-122"/>
                <a:cs typeface="Batang" pitchFamily="34" charset="-120"/>
              </a:rPr>
              <a:t>"다 따라올까"</a:t>
            </a:r>
            <a:endParaRPr lang="en-US" sz="1300" dirty="0"/>
          </a:p>
        </p:txBody>
      </p:sp>
      <p:sp>
        <p:nvSpPr>
          <p:cNvPr id="19" name="Shape 15"/>
          <p:cNvSpPr/>
          <p:nvPr/>
        </p:nvSpPr>
        <p:spPr>
          <a:xfrm>
            <a:off x="6210148" y="1371600"/>
            <a:ext cx="329184" cy="329184"/>
          </a:xfrm>
          <a:prstGeom prst="ellipse">
            <a:avLst/>
          </a:prstGeom>
          <a:solidFill>
            <a:srgbClr val="1FA655"/>
          </a:solidFill>
          <a:ln w="12700">
            <a:solidFill>
              <a:srgbClr val="1FA655"/>
            </a:solidFill>
            <a:prstDash val="solid"/>
          </a:ln>
        </p:spPr>
      </p:sp>
      <p:sp>
        <p:nvSpPr>
          <p:cNvPr id="20" name="Text 16"/>
          <p:cNvSpPr txBox="1"/>
          <p:nvPr/>
        </p:nvSpPr>
        <p:spPr>
          <a:xfrm>
            <a:off x="6210148" y="137160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</a:t>
            </a:r>
            <a:endParaRPr lang="en-US" sz="1400" dirty="0"/>
          </a:p>
        </p:txBody>
      </p:sp>
      <p:sp>
        <p:nvSpPr>
          <p:cNvPr id="21" name="Text 17"/>
          <p:cNvSpPr txBox="1"/>
          <p:nvPr/>
        </p:nvSpPr>
        <p:spPr>
          <a:xfrm>
            <a:off x="6621628" y="1389888"/>
            <a:ext cx="219067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b="1" dirty="0">
                <a:solidFill>
                  <a:srgbClr val="2B211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잉크병에 데려가기</a:t>
            </a:r>
            <a:endParaRPr lang="en-US" sz="1400" dirty="0"/>
          </a:p>
        </p:txBody>
      </p:sp>
      <p:pic>
        <p:nvPicPr>
          <p:cNvPr id="22" name="Image 2" descr="D:\stopsketch\데모제출\2_대표이미지\07_검은잉크병_정화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210148" y="1828800"/>
            <a:ext cx="2602154" cy="1463712"/>
          </a:xfrm>
          <a:prstGeom prst="rect">
            <a:avLst/>
          </a:prstGeom>
        </p:spPr>
      </p:pic>
      <p:sp>
        <p:nvSpPr>
          <p:cNvPr id="23" name="Shape 18"/>
          <p:cNvSpPr/>
          <p:nvPr/>
        </p:nvSpPr>
        <p:spPr>
          <a:xfrm>
            <a:off x="6210148" y="1828800"/>
            <a:ext cx="2602154" cy="1463712"/>
          </a:xfrm>
          <a:prstGeom prst="rect">
            <a:avLst/>
          </a:prstGeom>
          <a:ln w="12700">
            <a:solidFill>
              <a:srgbClr val="D8C8A4"/>
            </a:solidFill>
            <a:prstDash val="solid"/>
          </a:ln>
        </p:spPr>
      </p:sp>
      <p:sp>
        <p:nvSpPr>
          <p:cNvPr id="24" name="Text 19"/>
          <p:cNvSpPr txBox="1"/>
          <p:nvPr/>
        </p:nvSpPr>
        <p:spPr>
          <a:xfrm>
            <a:off x="6210148" y="3383952"/>
            <a:ext cx="260215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dirty="0">
                <a:solidFill>
                  <a:srgbClr val="2B211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주인공이 닿으면 대열이 차례로 뛰어들고 병이 맑아진다</a:t>
            </a:r>
            <a:endParaRPr lang="en-US" sz="1300" dirty="0"/>
          </a:p>
        </p:txBody>
      </p:sp>
      <p:sp>
        <p:nvSpPr>
          <p:cNvPr id="25" name="Shape 20"/>
          <p:cNvSpPr/>
          <p:nvPr/>
        </p:nvSpPr>
        <p:spPr>
          <a:xfrm>
            <a:off x="6210148" y="4161192"/>
            <a:ext cx="2602154" cy="548640"/>
          </a:xfrm>
          <a:prstGeom prst="roundRect">
            <a:avLst>
              <a:gd name="adj" fmla="val 13333"/>
            </a:avLst>
          </a:prstGeom>
          <a:solidFill>
            <a:srgbClr val="FAF6EC"/>
          </a:solidFill>
          <a:ln w="12700">
            <a:solidFill>
              <a:srgbClr val="D8C8A4"/>
            </a:solidFill>
            <a:prstDash val="solid"/>
          </a:ln>
        </p:spPr>
      </p:sp>
      <p:sp>
        <p:nvSpPr>
          <p:cNvPr id="26" name="Text 21"/>
          <p:cNvSpPr txBox="1"/>
          <p:nvPr/>
        </p:nvSpPr>
        <p:spPr>
          <a:xfrm>
            <a:off x="6210148" y="4161192"/>
            <a:ext cx="260215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dirty="0">
                <a:solidFill>
                  <a:srgbClr val="7B6B57"/>
                </a:solidFill>
                <a:latin typeface="Batang" pitchFamily="34" charset="0"/>
                <a:ea typeface="Batang" pitchFamily="34" charset="-122"/>
                <a:cs typeface="Batang" pitchFamily="34" charset="-120"/>
              </a:rPr>
              <a:t>"몇 마리나 왔지"</a:t>
            </a:r>
            <a:endParaRPr lang="en-US" sz="1300" dirty="0"/>
          </a:p>
        </p:txBody>
      </p:sp>
      <p:sp>
        <p:nvSpPr>
          <p:cNvPr id="27" name="Shape 22"/>
          <p:cNvSpPr/>
          <p:nvPr/>
        </p:nvSpPr>
        <p:spPr>
          <a:xfrm>
            <a:off x="9040901" y="1371600"/>
            <a:ext cx="329184" cy="329184"/>
          </a:xfrm>
          <a:prstGeom prst="ellipse">
            <a:avLst/>
          </a:prstGeom>
          <a:solidFill>
            <a:srgbClr val="C99A00"/>
          </a:solidFill>
          <a:ln w="12700">
            <a:solidFill>
              <a:srgbClr val="C99A00"/>
            </a:solidFill>
            <a:prstDash val="solid"/>
          </a:ln>
        </p:spPr>
      </p:sp>
      <p:sp>
        <p:nvSpPr>
          <p:cNvPr id="28" name="Text 23"/>
          <p:cNvSpPr txBox="1"/>
          <p:nvPr/>
        </p:nvSpPr>
        <p:spPr>
          <a:xfrm>
            <a:off x="9040901" y="137160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</a:t>
            </a:r>
            <a:endParaRPr lang="en-US" sz="1400" dirty="0"/>
          </a:p>
        </p:txBody>
      </p:sp>
      <p:sp>
        <p:nvSpPr>
          <p:cNvPr id="29" name="Text 24"/>
          <p:cNvSpPr txBox="1"/>
          <p:nvPr/>
        </p:nvSpPr>
        <p:spPr>
          <a:xfrm>
            <a:off x="9452381" y="1389888"/>
            <a:ext cx="219067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b="1" dirty="0">
                <a:solidFill>
                  <a:srgbClr val="2B211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결과 · 재도전</a:t>
            </a:r>
            <a:endParaRPr lang="en-US" sz="1400" dirty="0"/>
          </a:p>
        </p:txBody>
      </p:sp>
      <p:pic>
        <p:nvPicPr>
          <p:cNvPr id="30" name="Image 3" descr="D:\stopsketch\데모제출\2_대표이미지\08_결과창_별3_정화100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040901" y="1828800"/>
            <a:ext cx="2602154" cy="1463712"/>
          </a:xfrm>
          <a:prstGeom prst="rect">
            <a:avLst/>
          </a:prstGeom>
        </p:spPr>
      </p:pic>
      <p:sp>
        <p:nvSpPr>
          <p:cNvPr id="31" name="Shape 25"/>
          <p:cNvSpPr/>
          <p:nvPr/>
        </p:nvSpPr>
        <p:spPr>
          <a:xfrm>
            <a:off x="9040901" y="1828800"/>
            <a:ext cx="2602154" cy="1463712"/>
          </a:xfrm>
          <a:prstGeom prst="rect">
            <a:avLst/>
          </a:prstGeom>
          <a:ln w="12700">
            <a:solidFill>
              <a:srgbClr val="D8C8A4"/>
            </a:solidFill>
            <a:prstDash val="solid"/>
          </a:ln>
        </p:spPr>
      </p:sp>
      <p:sp>
        <p:nvSpPr>
          <p:cNvPr id="32" name="Text 26"/>
          <p:cNvSpPr txBox="1"/>
          <p:nvPr/>
        </p:nvSpPr>
        <p:spPr>
          <a:xfrm>
            <a:off x="9040901" y="3383952"/>
            <a:ext cx="260215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dirty="0">
                <a:solidFill>
                  <a:srgbClr val="2B211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별 n/3 과 정화 %. 더 많이, 별 3개를 노려 다시 한다</a:t>
            </a:r>
            <a:endParaRPr lang="en-US" sz="1300" dirty="0"/>
          </a:p>
        </p:txBody>
      </p:sp>
      <p:sp>
        <p:nvSpPr>
          <p:cNvPr id="33" name="Shape 27"/>
          <p:cNvSpPr/>
          <p:nvPr/>
        </p:nvSpPr>
        <p:spPr>
          <a:xfrm>
            <a:off x="9040901" y="4161192"/>
            <a:ext cx="2602154" cy="548640"/>
          </a:xfrm>
          <a:prstGeom prst="roundRect">
            <a:avLst>
              <a:gd name="adj" fmla="val 13333"/>
            </a:avLst>
          </a:prstGeom>
          <a:solidFill>
            <a:srgbClr val="FAF6EC"/>
          </a:solidFill>
          <a:ln w="12700">
            <a:solidFill>
              <a:srgbClr val="D8C8A4"/>
            </a:solidFill>
            <a:prstDash val="solid"/>
          </a:ln>
        </p:spPr>
      </p:sp>
      <p:sp>
        <p:nvSpPr>
          <p:cNvPr id="34" name="Text 28"/>
          <p:cNvSpPr txBox="1"/>
          <p:nvPr/>
        </p:nvSpPr>
        <p:spPr>
          <a:xfrm>
            <a:off x="9040901" y="4161192"/>
            <a:ext cx="260215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dirty="0">
                <a:solidFill>
                  <a:srgbClr val="7B6B57"/>
                </a:solidFill>
                <a:latin typeface="Batang" pitchFamily="34" charset="0"/>
                <a:ea typeface="Batang" pitchFamily="34" charset="-122"/>
                <a:cs typeface="Batang" pitchFamily="34" charset="-120"/>
              </a:rPr>
              <a:t>"한 번 더"</a:t>
            </a:r>
            <a:endParaRPr lang="en-US" sz="1300" dirty="0"/>
          </a:p>
        </p:txBody>
      </p:sp>
      <p:sp>
        <p:nvSpPr>
          <p:cNvPr id="35" name="Text 29"/>
          <p:cNvSpPr txBox="1"/>
          <p:nvPr/>
        </p:nvSpPr>
        <p:spPr>
          <a:xfrm>
            <a:off x="548640" y="544068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00" dirty="0">
                <a:solidFill>
                  <a:srgbClr val="7B6B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아래 줄은 그 단계에서 플레이어가 하는 생각. 스크린샷은 모두 실제 데모 화면 (데모 3 정석 루트).</a:t>
            </a:r>
            <a:endParaRPr lang="en-US" sz="1000" dirty="0"/>
          </a:p>
        </p:txBody>
      </p:sp>
      <p:sp>
        <p:nvSpPr>
          <p:cNvPr id="36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5855" y="6473952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900">
                <a:solidFill>
                  <a:srgbClr val="7B6B57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lang="en-US" b="0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>
            <a:spLocks noGrp="1"/>
          </p:cNvSpPr>
          <p:nvPr>
            <p:ph type="title" idx="101" hasCustomPrompt="1"/>
          </p:nvPr>
        </p:nvSpPr>
        <p:spPr>
          <a:xfrm>
            <a:off x="548640" y="292608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800" b="1" dirty="0">
                <a:solidFill>
                  <a:srgbClr val="2B2118"/>
                </a:solidFill>
                <a:latin typeface="Batang" pitchFamily="34" charset="0"/>
                <a:ea typeface="Batang" pitchFamily="34" charset="-122"/>
                <a:cs typeface="Batang" pitchFamily="34" charset="-120"/>
              </a:rPr>
              <a:t>물감 5색: 색마다 다른 물리 성질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548640" y="1280160"/>
            <a:ext cx="2036003" cy="3154680"/>
          </a:xfrm>
          <a:prstGeom prst="roundRect">
            <a:avLst>
              <a:gd name="adj" fmla="val 3593"/>
            </a:avLst>
          </a:prstGeom>
          <a:solidFill>
            <a:srgbClr val="FAF6EC"/>
          </a:solidFill>
          <a:ln w="12700">
            <a:solidFill>
              <a:srgbClr val="D8C8A4"/>
            </a:solidFill>
            <a:prstDash val="solid"/>
          </a:ln>
        </p:spPr>
      </p:sp>
      <p:pic>
        <p:nvPicPr>
          <p:cNvPr id="4" name="Image 0" descr="D:\stopsketch\stopsketch\assets\ink_blac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55162" y="1508760"/>
            <a:ext cx="822960" cy="109728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731520" y="1463040"/>
            <a:ext cx="329184" cy="329184"/>
          </a:xfrm>
          <a:prstGeom prst="ellipse">
            <a:avLst/>
          </a:prstGeom>
          <a:solidFill>
            <a:srgbClr val="2B2118"/>
          </a:solidFill>
          <a:ln w="12700">
            <a:solidFill>
              <a:srgbClr val="2B2118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731520" y="146304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</a:t>
            </a:r>
            <a:endParaRPr lang="en-US" sz="1400" dirty="0"/>
          </a:p>
        </p:txBody>
      </p:sp>
      <p:sp>
        <p:nvSpPr>
          <p:cNvPr id="7" name="Text 4"/>
          <p:cNvSpPr txBox="1"/>
          <p:nvPr/>
        </p:nvSpPr>
        <p:spPr>
          <a:xfrm>
            <a:off x="731520" y="2743200"/>
            <a:ext cx="1670243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2B2118"/>
                </a:solidFill>
                <a:latin typeface="Batang" pitchFamily="34" charset="0"/>
                <a:ea typeface="Batang" pitchFamily="34" charset="-122"/>
                <a:cs typeface="Batang" pitchFamily="34" charset="-120"/>
              </a:rPr>
              <a:t>검정</a:t>
            </a:r>
            <a:r>
              <a:rPr lang="en-US" sz="1800" dirty="0">
                <a:solidFill>
                  <a:srgbClr val="2B2118"/>
                </a:solidFill>
                <a:latin typeface="Batang" pitchFamily="34" charset="0"/>
                <a:ea typeface="Batang" pitchFamily="34" charset="-122"/>
                <a:cs typeface="Batang" pitchFamily="34" charset="-120"/>
              </a:rPr>
              <a:t>  기본</a:t>
            </a:r>
            <a:endParaRPr lang="en-US" sz="1800" dirty="0"/>
          </a:p>
        </p:txBody>
      </p:sp>
      <p:sp>
        <p:nvSpPr>
          <p:cNvPr id="8" name="Text 5"/>
          <p:cNvSpPr txBox="1"/>
          <p:nvPr/>
        </p:nvSpPr>
        <p:spPr>
          <a:xfrm>
            <a:off x="777240" y="3246120"/>
            <a:ext cx="1578803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dirty="0">
                <a:solidFill>
                  <a:srgbClr val="2B211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떨어져 걸쳐지는 다리 · 가시 덮개</a:t>
            </a:r>
            <a:endParaRPr lang="en-US" sz="1300" dirty="0"/>
          </a:p>
        </p:txBody>
      </p:sp>
      <p:sp>
        <p:nvSpPr>
          <p:cNvPr id="9" name="Shape 6"/>
          <p:cNvSpPr/>
          <p:nvPr/>
        </p:nvSpPr>
        <p:spPr>
          <a:xfrm>
            <a:off x="2813243" y="1280160"/>
            <a:ext cx="2036003" cy="3154680"/>
          </a:xfrm>
          <a:prstGeom prst="roundRect">
            <a:avLst>
              <a:gd name="adj" fmla="val 3593"/>
            </a:avLst>
          </a:prstGeom>
          <a:solidFill>
            <a:srgbClr val="FAF6EC"/>
          </a:solidFill>
          <a:ln w="12700">
            <a:solidFill>
              <a:srgbClr val="D8C8A4"/>
            </a:solidFill>
            <a:prstDash val="solid"/>
          </a:ln>
        </p:spPr>
      </p:sp>
      <p:pic>
        <p:nvPicPr>
          <p:cNvPr id="10" name="Image 1" descr="D:\stopsketch\stopsketch\assets\ink_r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419765" y="1508760"/>
            <a:ext cx="822960" cy="1097280"/>
          </a:xfrm>
          <a:prstGeom prst="rect">
            <a:avLst/>
          </a:prstGeom>
        </p:spPr>
      </p:pic>
      <p:sp>
        <p:nvSpPr>
          <p:cNvPr id="11" name="Shape 7"/>
          <p:cNvSpPr/>
          <p:nvPr/>
        </p:nvSpPr>
        <p:spPr>
          <a:xfrm>
            <a:off x="2996123" y="1463040"/>
            <a:ext cx="329184" cy="329184"/>
          </a:xfrm>
          <a:prstGeom prst="ellipse">
            <a:avLst/>
          </a:prstGeom>
          <a:solidFill>
            <a:srgbClr val="E0312B"/>
          </a:solidFill>
          <a:ln w="12700">
            <a:solidFill>
              <a:srgbClr val="E0312B"/>
            </a:solidFill>
            <a:prstDash val="solid"/>
          </a:ln>
        </p:spPr>
      </p:sp>
      <p:sp>
        <p:nvSpPr>
          <p:cNvPr id="12" name="Text 8"/>
          <p:cNvSpPr txBox="1"/>
          <p:nvPr/>
        </p:nvSpPr>
        <p:spPr>
          <a:xfrm>
            <a:off x="2996123" y="146304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</a:t>
            </a:r>
            <a:endParaRPr lang="en-US" sz="1400" dirty="0"/>
          </a:p>
        </p:txBody>
      </p:sp>
      <p:sp>
        <p:nvSpPr>
          <p:cNvPr id="13" name="Text 9"/>
          <p:cNvSpPr txBox="1"/>
          <p:nvPr/>
        </p:nvSpPr>
        <p:spPr>
          <a:xfrm>
            <a:off x="2996123" y="2743200"/>
            <a:ext cx="1670243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E0312B"/>
                </a:solidFill>
                <a:latin typeface="Batang" pitchFamily="34" charset="0"/>
                <a:ea typeface="Batang" pitchFamily="34" charset="-122"/>
                <a:cs typeface="Batang" pitchFamily="34" charset="-120"/>
              </a:rPr>
              <a:t>빨강</a:t>
            </a:r>
            <a:r>
              <a:rPr lang="en-US" sz="1800" dirty="0">
                <a:solidFill>
                  <a:srgbClr val="2B2118"/>
                </a:solidFill>
                <a:latin typeface="Batang" pitchFamily="34" charset="0"/>
                <a:ea typeface="Batang" pitchFamily="34" charset="-122"/>
                <a:cs typeface="Batang" pitchFamily="34" charset="-120"/>
              </a:rPr>
              <a:t>  튕김</a:t>
            </a:r>
            <a:endParaRPr lang="en-US" sz="1800" dirty="0"/>
          </a:p>
        </p:txBody>
      </p:sp>
      <p:sp>
        <p:nvSpPr>
          <p:cNvPr id="14" name="Text 10"/>
          <p:cNvSpPr txBox="1"/>
          <p:nvPr/>
        </p:nvSpPr>
        <p:spPr>
          <a:xfrm>
            <a:off x="3041843" y="3246120"/>
            <a:ext cx="1578803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dirty="0">
                <a:solidFill>
                  <a:srgbClr val="2B211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밟으면 선과 수직으로 튕김. 세워 그리면 옆으로 튕기고 방향이 바뀜</a:t>
            </a:r>
            <a:endParaRPr lang="en-US" sz="1300" dirty="0"/>
          </a:p>
        </p:txBody>
      </p:sp>
      <p:sp>
        <p:nvSpPr>
          <p:cNvPr id="15" name="Shape 11"/>
          <p:cNvSpPr/>
          <p:nvPr/>
        </p:nvSpPr>
        <p:spPr>
          <a:xfrm>
            <a:off x="5077846" y="1280160"/>
            <a:ext cx="2036003" cy="3154680"/>
          </a:xfrm>
          <a:prstGeom prst="roundRect">
            <a:avLst>
              <a:gd name="adj" fmla="val 3593"/>
            </a:avLst>
          </a:prstGeom>
          <a:solidFill>
            <a:srgbClr val="FAF6EC"/>
          </a:solidFill>
          <a:ln w="12700">
            <a:solidFill>
              <a:srgbClr val="D8C8A4"/>
            </a:solidFill>
            <a:prstDash val="solid"/>
          </a:ln>
        </p:spPr>
      </p:sp>
      <p:pic>
        <p:nvPicPr>
          <p:cNvPr id="16" name="Image 2" descr="D:\stopsketch\stopsketch\assets\ink_blu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684368" y="1508760"/>
            <a:ext cx="822960" cy="1097280"/>
          </a:xfrm>
          <a:prstGeom prst="rect">
            <a:avLst/>
          </a:prstGeom>
        </p:spPr>
      </p:pic>
      <p:sp>
        <p:nvSpPr>
          <p:cNvPr id="17" name="Shape 12"/>
          <p:cNvSpPr/>
          <p:nvPr/>
        </p:nvSpPr>
        <p:spPr>
          <a:xfrm>
            <a:off x="5260726" y="1463040"/>
            <a:ext cx="329184" cy="329184"/>
          </a:xfrm>
          <a:prstGeom prst="ellipse">
            <a:avLst/>
          </a:prstGeom>
          <a:solidFill>
            <a:srgbClr val="1F6FE0"/>
          </a:solidFill>
          <a:ln w="12700">
            <a:solidFill>
              <a:srgbClr val="1F6FE0"/>
            </a:solidFill>
            <a:prstDash val="solid"/>
          </a:ln>
        </p:spPr>
      </p:sp>
      <p:sp>
        <p:nvSpPr>
          <p:cNvPr id="18" name="Text 13"/>
          <p:cNvSpPr txBox="1"/>
          <p:nvPr/>
        </p:nvSpPr>
        <p:spPr>
          <a:xfrm>
            <a:off x="5260726" y="146304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</a:t>
            </a:r>
            <a:endParaRPr lang="en-US" sz="1400" dirty="0"/>
          </a:p>
        </p:txBody>
      </p:sp>
      <p:sp>
        <p:nvSpPr>
          <p:cNvPr id="19" name="Text 14"/>
          <p:cNvSpPr txBox="1"/>
          <p:nvPr/>
        </p:nvSpPr>
        <p:spPr>
          <a:xfrm>
            <a:off x="5260726" y="2743200"/>
            <a:ext cx="1670243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1F6FE0"/>
                </a:solidFill>
                <a:latin typeface="Batang" pitchFamily="34" charset="0"/>
                <a:ea typeface="Batang" pitchFamily="34" charset="-122"/>
                <a:cs typeface="Batang" pitchFamily="34" charset="-120"/>
              </a:rPr>
              <a:t>파랑</a:t>
            </a:r>
            <a:r>
              <a:rPr lang="en-US" sz="1800" dirty="0">
                <a:solidFill>
                  <a:srgbClr val="2B2118"/>
                </a:solidFill>
                <a:latin typeface="Batang" pitchFamily="34" charset="0"/>
                <a:ea typeface="Batang" pitchFamily="34" charset="-122"/>
                <a:cs typeface="Batang" pitchFamily="34" charset="-120"/>
              </a:rPr>
              <a:t>  가속</a:t>
            </a:r>
            <a:endParaRPr lang="en-US" sz="1800" dirty="0"/>
          </a:p>
        </p:txBody>
      </p:sp>
      <p:sp>
        <p:nvSpPr>
          <p:cNvPr id="20" name="Text 15"/>
          <p:cNvSpPr txBox="1"/>
          <p:nvPr/>
        </p:nvSpPr>
        <p:spPr>
          <a:xfrm>
            <a:off x="5306446" y="3246120"/>
            <a:ext cx="1578803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dirty="0">
                <a:solidFill>
                  <a:srgbClr val="2B211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밟는 동안 · 내린 뒤 잠시 빨라짐. 가파른 비탈도 오른다</a:t>
            </a:r>
            <a:endParaRPr lang="en-US" sz="1300" dirty="0"/>
          </a:p>
        </p:txBody>
      </p:sp>
      <p:sp>
        <p:nvSpPr>
          <p:cNvPr id="21" name="Shape 16"/>
          <p:cNvSpPr/>
          <p:nvPr/>
        </p:nvSpPr>
        <p:spPr>
          <a:xfrm>
            <a:off x="7342449" y="1280160"/>
            <a:ext cx="2036003" cy="3154680"/>
          </a:xfrm>
          <a:prstGeom prst="roundRect">
            <a:avLst>
              <a:gd name="adj" fmla="val 3593"/>
            </a:avLst>
          </a:prstGeom>
          <a:solidFill>
            <a:srgbClr val="FAF6EC"/>
          </a:solidFill>
          <a:ln w="12700">
            <a:solidFill>
              <a:srgbClr val="D8C8A4"/>
            </a:solidFill>
            <a:prstDash val="solid"/>
          </a:ln>
        </p:spPr>
      </p:sp>
      <p:pic>
        <p:nvPicPr>
          <p:cNvPr id="22" name="Image 3" descr="D:\stopsketch\stopsketch\assets\ink_green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948971" y="1508760"/>
            <a:ext cx="822960" cy="1097280"/>
          </a:xfrm>
          <a:prstGeom prst="rect">
            <a:avLst/>
          </a:prstGeom>
        </p:spPr>
      </p:pic>
      <p:sp>
        <p:nvSpPr>
          <p:cNvPr id="23" name="Shape 17"/>
          <p:cNvSpPr/>
          <p:nvPr/>
        </p:nvSpPr>
        <p:spPr>
          <a:xfrm>
            <a:off x="7525329" y="1463040"/>
            <a:ext cx="329184" cy="329184"/>
          </a:xfrm>
          <a:prstGeom prst="ellipse">
            <a:avLst/>
          </a:prstGeom>
          <a:solidFill>
            <a:srgbClr val="1FA655"/>
          </a:solidFill>
          <a:ln w="12700">
            <a:solidFill>
              <a:srgbClr val="1FA655"/>
            </a:solidFill>
            <a:prstDash val="solid"/>
          </a:ln>
        </p:spPr>
      </p:sp>
      <p:sp>
        <p:nvSpPr>
          <p:cNvPr id="24" name="Text 18"/>
          <p:cNvSpPr txBox="1"/>
          <p:nvPr/>
        </p:nvSpPr>
        <p:spPr>
          <a:xfrm>
            <a:off x="7525329" y="146304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</a:t>
            </a:r>
            <a:endParaRPr lang="en-US" sz="1400" dirty="0"/>
          </a:p>
        </p:txBody>
      </p:sp>
      <p:sp>
        <p:nvSpPr>
          <p:cNvPr id="25" name="Text 19"/>
          <p:cNvSpPr txBox="1"/>
          <p:nvPr/>
        </p:nvSpPr>
        <p:spPr>
          <a:xfrm>
            <a:off x="7525329" y="2743200"/>
            <a:ext cx="1670243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1FA655"/>
                </a:solidFill>
                <a:latin typeface="Batang" pitchFamily="34" charset="0"/>
                <a:ea typeface="Batang" pitchFamily="34" charset="-122"/>
                <a:cs typeface="Batang" pitchFamily="34" charset="-120"/>
              </a:rPr>
              <a:t>초록</a:t>
            </a:r>
            <a:r>
              <a:rPr lang="en-US" sz="1800" dirty="0">
                <a:solidFill>
                  <a:srgbClr val="2B2118"/>
                </a:solidFill>
                <a:latin typeface="Batang" pitchFamily="34" charset="0"/>
                <a:ea typeface="Batang" pitchFamily="34" charset="-122"/>
                <a:cs typeface="Batang" pitchFamily="34" charset="-120"/>
              </a:rPr>
              <a:t>  떠오름</a:t>
            </a:r>
            <a:endParaRPr lang="en-US" sz="1800" dirty="0"/>
          </a:p>
        </p:txBody>
      </p:sp>
      <p:sp>
        <p:nvSpPr>
          <p:cNvPr id="26" name="Text 20"/>
          <p:cNvSpPr txBox="1"/>
          <p:nvPr/>
        </p:nvSpPr>
        <p:spPr>
          <a:xfrm>
            <a:off x="7571049" y="3246120"/>
            <a:ext cx="1578803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dirty="0">
                <a:solidFill>
                  <a:srgbClr val="2B211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떨어지지 않고 천천히 떠올라 닿으면 멈춤. 무리를 태우는 엘리베이터</a:t>
            </a:r>
            <a:endParaRPr lang="en-US" sz="1300" dirty="0"/>
          </a:p>
        </p:txBody>
      </p:sp>
      <p:sp>
        <p:nvSpPr>
          <p:cNvPr id="27" name="Shape 21"/>
          <p:cNvSpPr/>
          <p:nvPr/>
        </p:nvSpPr>
        <p:spPr>
          <a:xfrm>
            <a:off x="9607052" y="1280160"/>
            <a:ext cx="2036003" cy="3154680"/>
          </a:xfrm>
          <a:prstGeom prst="roundRect">
            <a:avLst>
              <a:gd name="adj" fmla="val 3593"/>
            </a:avLst>
          </a:prstGeom>
          <a:solidFill>
            <a:srgbClr val="FAF6EC"/>
          </a:solidFill>
          <a:ln w="12700">
            <a:solidFill>
              <a:srgbClr val="D8C8A4"/>
            </a:solidFill>
            <a:prstDash val="solid"/>
          </a:ln>
        </p:spPr>
      </p:sp>
      <p:pic>
        <p:nvPicPr>
          <p:cNvPr id="28" name="Image 4" descr="D:\stopsketch\stopsketch\assets\ink_yellow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0213574" y="1508760"/>
            <a:ext cx="822960" cy="1097280"/>
          </a:xfrm>
          <a:prstGeom prst="rect">
            <a:avLst/>
          </a:prstGeom>
        </p:spPr>
      </p:pic>
      <p:sp>
        <p:nvSpPr>
          <p:cNvPr id="29" name="Shape 22"/>
          <p:cNvSpPr/>
          <p:nvPr/>
        </p:nvSpPr>
        <p:spPr>
          <a:xfrm>
            <a:off x="9789932" y="1463040"/>
            <a:ext cx="329184" cy="329184"/>
          </a:xfrm>
          <a:prstGeom prst="ellipse">
            <a:avLst/>
          </a:prstGeom>
          <a:solidFill>
            <a:srgbClr val="C99A00"/>
          </a:solidFill>
          <a:ln w="12700">
            <a:solidFill>
              <a:srgbClr val="C99A00"/>
            </a:solidFill>
            <a:prstDash val="solid"/>
          </a:ln>
        </p:spPr>
      </p:sp>
      <p:sp>
        <p:nvSpPr>
          <p:cNvPr id="30" name="Text 23"/>
          <p:cNvSpPr txBox="1"/>
          <p:nvPr/>
        </p:nvSpPr>
        <p:spPr>
          <a:xfrm>
            <a:off x="9789932" y="146304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</a:t>
            </a:r>
            <a:endParaRPr lang="en-US" sz="1400" dirty="0"/>
          </a:p>
        </p:txBody>
      </p:sp>
      <p:sp>
        <p:nvSpPr>
          <p:cNvPr id="31" name="Text 24"/>
          <p:cNvSpPr txBox="1"/>
          <p:nvPr/>
        </p:nvSpPr>
        <p:spPr>
          <a:xfrm>
            <a:off x="9789932" y="2743200"/>
            <a:ext cx="1670243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C99A00"/>
                </a:solidFill>
                <a:latin typeface="Batang" pitchFamily="34" charset="0"/>
                <a:ea typeface="Batang" pitchFamily="34" charset="-122"/>
                <a:cs typeface="Batang" pitchFamily="34" charset="-120"/>
              </a:rPr>
              <a:t>노랑</a:t>
            </a:r>
            <a:r>
              <a:rPr lang="en-US" sz="1800" dirty="0">
                <a:solidFill>
                  <a:srgbClr val="2B2118"/>
                </a:solidFill>
                <a:latin typeface="Batang" pitchFamily="34" charset="0"/>
                <a:ea typeface="Batang" pitchFamily="34" charset="-122"/>
                <a:cs typeface="Batang" pitchFamily="34" charset="-120"/>
              </a:rPr>
              <a:t>  지우기</a:t>
            </a:r>
            <a:endParaRPr lang="en-US" sz="1800" dirty="0"/>
          </a:p>
        </p:txBody>
      </p:sp>
      <p:sp>
        <p:nvSpPr>
          <p:cNvPr id="32" name="Text 25"/>
          <p:cNvSpPr txBox="1"/>
          <p:nvPr/>
        </p:nvSpPr>
        <p:spPr>
          <a:xfrm>
            <a:off x="9835652" y="3246120"/>
            <a:ext cx="1578803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dirty="0">
                <a:solidFill>
                  <a:srgbClr val="2B211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칠한 자리의 결정 막대를 지운다. 길을 막던 벽·우리를 연다</a:t>
            </a:r>
            <a:endParaRPr lang="en-US" sz="1300" dirty="0"/>
          </a:p>
        </p:txBody>
      </p:sp>
      <p:sp>
        <p:nvSpPr>
          <p:cNvPr id="33" name="Shape 26"/>
          <p:cNvSpPr/>
          <p:nvPr/>
        </p:nvSpPr>
        <p:spPr>
          <a:xfrm>
            <a:off x="548640" y="4663440"/>
            <a:ext cx="11094415" cy="777240"/>
          </a:xfrm>
          <a:prstGeom prst="roundRect">
            <a:avLst>
              <a:gd name="adj" fmla="val 9412"/>
            </a:avLst>
          </a:prstGeom>
          <a:solidFill>
            <a:srgbClr val="FFFFFF"/>
          </a:solidFill>
          <a:ln w="12700">
            <a:solidFill>
              <a:srgbClr val="D8C8A4"/>
            </a:solidFill>
            <a:prstDash val="solid"/>
          </a:ln>
        </p:spPr>
      </p:sp>
      <p:sp>
        <p:nvSpPr>
          <p:cNvPr id="34" name="Text 27"/>
          <p:cNvSpPr txBox="1"/>
          <p:nvPr/>
        </p:nvSpPr>
        <p:spPr>
          <a:xfrm>
            <a:off x="822960" y="4663440"/>
            <a:ext cx="1054577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dirty="0">
                <a:solidFill>
                  <a:srgbClr val="2B211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모든 선은 떨어진다 (초록 제외)   ·   우클릭으로 빨아들이면 잉크를 전부 돌려받는다   ·   시간 정지 중엔 물방울 · 지우개 · 발사기 모두 멈춘다</a:t>
            </a:r>
            <a:endParaRPr lang="en-US" sz="1300" dirty="0"/>
          </a:p>
        </p:txBody>
      </p:sp>
      <p:sp>
        <p:nvSpPr>
          <p:cNvPr id="3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5855" y="6473952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900">
                <a:solidFill>
                  <a:srgbClr val="7B6B57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lang="en-US" b="0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>
            <a:spLocks noGrp="1"/>
          </p:cNvSpPr>
          <p:nvPr>
            <p:ph type="title" idx="101" hasCustomPrompt="1"/>
          </p:nvPr>
        </p:nvSpPr>
        <p:spPr>
          <a:xfrm>
            <a:off x="548640" y="292608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800" b="1" dirty="0">
                <a:solidFill>
                  <a:srgbClr val="2B2118"/>
                </a:solidFill>
                <a:latin typeface="Batang" pitchFamily="34" charset="0"/>
                <a:ea typeface="Batang" pitchFamily="34" charset="-122"/>
                <a:cs typeface="Batang" pitchFamily="34" charset="-120"/>
              </a:rPr>
              <a:t>무리를 데려가는 길: 대열 · 정화 · 장애물</a:t>
            </a:r>
            <a:endParaRPr lang="en-US" sz="2800" dirty="0"/>
          </a:p>
        </p:txBody>
      </p:sp>
      <p:pic>
        <p:nvPicPr>
          <p:cNvPr id="3" name="Image 0" descr="D:\stopsketch\데모제출\2_대표이미지\05_같은색_빨강으로_포탄막고_튕겨나오기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1234440"/>
            <a:ext cx="5852160" cy="3291840"/>
          </a:xfrm>
          <a:prstGeom prst="rect">
            <a:avLst/>
          </a:prstGeom>
        </p:spPr>
      </p:pic>
      <p:sp>
        <p:nvSpPr>
          <p:cNvPr id="4" name="Shape 1"/>
          <p:cNvSpPr/>
          <p:nvPr/>
        </p:nvSpPr>
        <p:spPr>
          <a:xfrm>
            <a:off x="548640" y="1234440"/>
            <a:ext cx="5852160" cy="3291840"/>
          </a:xfrm>
          <a:prstGeom prst="rect">
            <a:avLst/>
          </a:prstGeom>
          <a:ln w="12700">
            <a:solidFill>
              <a:srgbClr val="D8C8A4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548640" y="4581144"/>
            <a:ext cx="5852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00" dirty="0">
                <a:solidFill>
                  <a:srgbClr val="7B6B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실제 데모 화면 · 빨강 포탄을 같은 색 빨강 삼각형으로 막고, 대열 6마리와 튕겨 나오는 순간</a:t>
            </a:r>
            <a:endParaRPr lang="en-US" sz="1000" dirty="0"/>
          </a:p>
        </p:txBody>
      </p:sp>
      <p:sp>
        <p:nvSpPr>
          <p:cNvPr id="6" name="Shape 3"/>
          <p:cNvSpPr/>
          <p:nvPr/>
        </p:nvSpPr>
        <p:spPr>
          <a:xfrm>
            <a:off x="6720840" y="1234440"/>
            <a:ext cx="4922215" cy="786384"/>
          </a:xfrm>
          <a:prstGeom prst="roundRect">
            <a:avLst>
              <a:gd name="adj" fmla="val 9302"/>
            </a:avLst>
          </a:prstGeom>
          <a:solidFill>
            <a:srgbClr val="FAF6EC"/>
          </a:solidFill>
          <a:ln w="12700">
            <a:solidFill>
              <a:srgbClr val="D8C8A4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6903720" y="1399032"/>
            <a:ext cx="201168" cy="201168"/>
          </a:xfrm>
          <a:prstGeom prst="ellipse">
            <a:avLst/>
          </a:prstGeom>
          <a:solidFill>
            <a:srgbClr val="1F6FE0"/>
          </a:solidFill>
          <a:ln w="12700">
            <a:solidFill>
              <a:srgbClr val="1F6FE0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7223760" y="1325880"/>
            <a:ext cx="4236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b="1" dirty="0">
                <a:solidFill>
                  <a:srgbClr val="2B211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대열</a:t>
            </a:r>
            <a:endParaRPr lang="en-US" sz="1300" dirty="0"/>
          </a:p>
        </p:txBody>
      </p:sp>
      <p:sp>
        <p:nvSpPr>
          <p:cNvPr id="9" name="Text 6"/>
          <p:cNvSpPr txBox="1"/>
          <p:nvPr/>
        </p:nvSpPr>
        <p:spPr>
          <a:xfrm>
            <a:off x="7223760" y="1600200"/>
            <a:ext cx="423641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50" dirty="0">
                <a:solidFill>
                  <a:srgbClr val="2B211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깨운 물방울은 주인공 발자국을 따라 줄지어 걷는다. 밀리면 이탈, 다시 닿으면 합류. 발밑이 사라져도 대열에 남아 떨어졌다 복귀</a:t>
            </a:r>
            <a:endParaRPr lang="en-US" sz="1050" dirty="0"/>
          </a:p>
        </p:txBody>
      </p:sp>
      <p:sp>
        <p:nvSpPr>
          <p:cNvPr id="10" name="Shape 7"/>
          <p:cNvSpPr/>
          <p:nvPr/>
        </p:nvSpPr>
        <p:spPr>
          <a:xfrm>
            <a:off x="6720840" y="2130552"/>
            <a:ext cx="4922215" cy="786384"/>
          </a:xfrm>
          <a:prstGeom prst="roundRect">
            <a:avLst>
              <a:gd name="adj" fmla="val 9302"/>
            </a:avLst>
          </a:prstGeom>
          <a:solidFill>
            <a:srgbClr val="FAF6EC"/>
          </a:solidFill>
          <a:ln w="12700">
            <a:solidFill>
              <a:srgbClr val="D8C8A4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6903720" y="2295144"/>
            <a:ext cx="201168" cy="201168"/>
          </a:xfrm>
          <a:prstGeom prst="ellipse">
            <a:avLst/>
          </a:prstGeom>
          <a:solidFill>
            <a:srgbClr val="7FC8DC"/>
          </a:solidFill>
          <a:ln w="12700">
            <a:solidFill>
              <a:srgbClr val="7FC8DC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7223760" y="2221992"/>
            <a:ext cx="4236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b="1" dirty="0">
                <a:solidFill>
                  <a:srgbClr val="2B211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정화</a:t>
            </a:r>
            <a:endParaRPr lang="en-US" sz="1300" dirty="0"/>
          </a:p>
        </p:txBody>
      </p:sp>
      <p:sp>
        <p:nvSpPr>
          <p:cNvPr id="13" name="Text 10"/>
          <p:cNvSpPr txBox="1"/>
          <p:nvPr/>
        </p:nvSpPr>
        <p:spPr>
          <a:xfrm>
            <a:off x="7223760" y="2496312"/>
            <a:ext cx="423641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50" dirty="0">
                <a:solidFill>
                  <a:srgbClr val="2B211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주인공이 검은 잉크병에 닿으면 클리어. 데려간 비율만큼 병이 맑아진다 (정화 %)</a:t>
            </a:r>
            <a:endParaRPr lang="en-US" sz="1050" dirty="0"/>
          </a:p>
        </p:txBody>
      </p:sp>
      <p:sp>
        <p:nvSpPr>
          <p:cNvPr id="14" name="Shape 11"/>
          <p:cNvSpPr/>
          <p:nvPr/>
        </p:nvSpPr>
        <p:spPr>
          <a:xfrm>
            <a:off x="6720840" y="3026664"/>
            <a:ext cx="4922215" cy="786384"/>
          </a:xfrm>
          <a:prstGeom prst="roundRect">
            <a:avLst>
              <a:gd name="adj" fmla="val 9302"/>
            </a:avLst>
          </a:prstGeom>
          <a:solidFill>
            <a:srgbClr val="FAF6EC"/>
          </a:solidFill>
          <a:ln w="12700">
            <a:solidFill>
              <a:srgbClr val="D8C8A4"/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>
            <a:off x="6903720" y="3191256"/>
            <a:ext cx="201168" cy="201168"/>
          </a:xfrm>
          <a:prstGeom prst="ellipse">
            <a:avLst/>
          </a:prstGeom>
          <a:solidFill>
            <a:srgbClr val="E0312B"/>
          </a:solidFill>
          <a:ln w="12700">
            <a:solidFill>
              <a:srgbClr val="E0312B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7223760" y="3118104"/>
            <a:ext cx="4236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b="1" dirty="0">
                <a:solidFill>
                  <a:srgbClr val="2B211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발사기</a:t>
            </a:r>
            <a:endParaRPr lang="en-US" sz="1300" dirty="0"/>
          </a:p>
        </p:txBody>
      </p:sp>
      <p:sp>
        <p:nvSpPr>
          <p:cNvPr id="17" name="Text 14"/>
          <p:cNvSpPr txBox="1"/>
          <p:nvPr/>
        </p:nvSpPr>
        <p:spPr>
          <a:xfrm>
            <a:off x="7223760" y="3392424"/>
            <a:ext cx="423641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50" dirty="0">
                <a:solidFill>
                  <a:srgbClr val="2B211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색 투사체는 같은 색 선으로만 막힌다. 주인공이 맞으면 실패, 작은 물방울은 잃는다</a:t>
            </a:r>
            <a:endParaRPr lang="en-US" sz="1050" dirty="0"/>
          </a:p>
        </p:txBody>
      </p:sp>
      <p:sp>
        <p:nvSpPr>
          <p:cNvPr id="18" name="Shape 15"/>
          <p:cNvSpPr/>
          <p:nvPr/>
        </p:nvSpPr>
        <p:spPr>
          <a:xfrm>
            <a:off x="6720840" y="3922776"/>
            <a:ext cx="4922215" cy="786384"/>
          </a:xfrm>
          <a:prstGeom prst="roundRect">
            <a:avLst>
              <a:gd name="adj" fmla="val 9302"/>
            </a:avLst>
          </a:prstGeom>
          <a:solidFill>
            <a:srgbClr val="FAF6EC"/>
          </a:solidFill>
          <a:ln w="12700">
            <a:solidFill>
              <a:srgbClr val="D8C8A4"/>
            </a:solidFill>
            <a:prstDash val="solid"/>
          </a:ln>
        </p:spPr>
      </p:sp>
      <p:sp>
        <p:nvSpPr>
          <p:cNvPr id="19" name="Shape 16"/>
          <p:cNvSpPr/>
          <p:nvPr/>
        </p:nvSpPr>
        <p:spPr>
          <a:xfrm>
            <a:off x="6903720" y="4087368"/>
            <a:ext cx="201168" cy="201168"/>
          </a:xfrm>
          <a:prstGeom prst="ellipse">
            <a:avLst/>
          </a:prstGeom>
          <a:solidFill>
            <a:srgbClr val="1FA655"/>
          </a:solidFill>
          <a:ln w="12700">
            <a:solidFill>
              <a:srgbClr val="1FA655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7223760" y="4014216"/>
            <a:ext cx="4236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b="1" dirty="0">
                <a:solidFill>
                  <a:srgbClr val="2B211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가시 · 틈 · 결정 막대</a:t>
            </a:r>
            <a:endParaRPr lang="en-US" sz="1300" dirty="0"/>
          </a:p>
        </p:txBody>
      </p:sp>
      <p:sp>
        <p:nvSpPr>
          <p:cNvPr id="21" name="Text 18"/>
          <p:cNvSpPr txBox="1"/>
          <p:nvPr/>
        </p:nvSpPr>
        <p:spPr>
          <a:xfrm>
            <a:off x="7223760" y="4288536"/>
            <a:ext cx="423641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50" dirty="0">
                <a:solidFill>
                  <a:srgbClr val="2B211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선으로 덮고, 다리를 놓고, 노랑으로 지운다</a:t>
            </a:r>
            <a:endParaRPr lang="en-US" sz="1050" dirty="0"/>
          </a:p>
        </p:txBody>
      </p:sp>
      <p:sp>
        <p:nvSpPr>
          <p:cNvPr id="22" name="Shape 19"/>
          <p:cNvSpPr/>
          <p:nvPr/>
        </p:nvSpPr>
        <p:spPr>
          <a:xfrm>
            <a:off x="6720840" y="4818888"/>
            <a:ext cx="4922215" cy="786384"/>
          </a:xfrm>
          <a:prstGeom prst="roundRect">
            <a:avLst>
              <a:gd name="adj" fmla="val 9302"/>
            </a:avLst>
          </a:prstGeom>
          <a:solidFill>
            <a:srgbClr val="FAF6EC"/>
          </a:solidFill>
          <a:ln w="12700">
            <a:solidFill>
              <a:srgbClr val="D8C8A4"/>
            </a:solidFill>
            <a:prstDash val="solid"/>
          </a:ln>
        </p:spPr>
      </p:sp>
      <p:sp>
        <p:nvSpPr>
          <p:cNvPr id="23" name="Shape 20"/>
          <p:cNvSpPr/>
          <p:nvPr/>
        </p:nvSpPr>
        <p:spPr>
          <a:xfrm>
            <a:off x="6903720" y="4983480"/>
            <a:ext cx="201168" cy="201168"/>
          </a:xfrm>
          <a:prstGeom prst="ellipse">
            <a:avLst/>
          </a:prstGeom>
          <a:solidFill>
            <a:srgbClr val="7B6B57"/>
          </a:solidFill>
          <a:ln w="12700">
            <a:solidFill>
              <a:srgbClr val="7B6B57"/>
            </a:solidFill>
            <a:prstDash val="solid"/>
          </a:ln>
        </p:spPr>
      </p:sp>
      <p:sp>
        <p:nvSpPr>
          <p:cNvPr id="24" name="Text 21"/>
          <p:cNvSpPr txBox="1"/>
          <p:nvPr/>
        </p:nvSpPr>
        <p:spPr>
          <a:xfrm>
            <a:off x="7223760" y="4910328"/>
            <a:ext cx="4236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b="1" dirty="0">
                <a:solidFill>
                  <a:srgbClr val="2B211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지우개</a:t>
            </a:r>
            <a:endParaRPr lang="en-US" sz="1300" dirty="0"/>
          </a:p>
        </p:txBody>
      </p:sp>
      <p:sp>
        <p:nvSpPr>
          <p:cNvPr id="25" name="Text 22"/>
          <p:cNvSpPr txBox="1"/>
          <p:nvPr/>
        </p:nvSpPr>
        <p:spPr>
          <a:xfrm>
            <a:off x="7223760" y="5184648"/>
            <a:ext cx="423641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50" dirty="0">
                <a:solidFill>
                  <a:srgbClr val="2B211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왼쪽에서 문지르며 따라온다. 멈추면 지우개도 멈춘다</a:t>
            </a:r>
            <a:endParaRPr lang="en-US" sz="1050" dirty="0"/>
          </a:p>
        </p:txBody>
      </p:sp>
      <p:sp>
        <p:nvSpPr>
          <p:cNvPr id="26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5855" y="6473952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900">
                <a:solidFill>
                  <a:srgbClr val="7B6B57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lang="en-US" b="0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>
            <a:spLocks noGrp="1"/>
          </p:cNvSpPr>
          <p:nvPr>
            <p:ph type="title" idx="101" hasCustomPrompt="1"/>
          </p:nvPr>
        </p:nvSpPr>
        <p:spPr>
          <a:xfrm>
            <a:off x="548640" y="292608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800" b="1" dirty="0">
                <a:solidFill>
                  <a:srgbClr val="2B2118"/>
                </a:solidFill>
                <a:latin typeface="Batang" pitchFamily="34" charset="0"/>
                <a:ea typeface="Batang" pitchFamily="34" charset="-122"/>
                <a:cs typeface="Batang" pitchFamily="34" charset="-120"/>
              </a:rPr>
              <a:t>데모 스테이지 3개: 색과 장치를 하나씩 늘린다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548640" y="1280160"/>
            <a:ext cx="3484778" cy="3429000"/>
          </a:xfrm>
          <a:prstGeom prst="roundRect">
            <a:avLst>
              <a:gd name="adj" fmla="val 2133"/>
            </a:avLst>
          </a:prstGeom>
          <a:solidFill>
            <a:srgbClr val="FAF6EC"/>
          </a:solidFill>
          <a:ln w="12700">
            <a:solidFill>
              <a:srgbClr val="D8C8A4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822960" y="1554480"/>
            <a:ext cx="384048" cy="384048"/>
          </a:xfrm>
          <a:prstGeom prst="ellipse">
            <a:avLst/>
          </a:prstGeom>
          <a:solidFill>
            <a:srgbClr val="2B2118"/>
          </a:solidFill>
          <a:ln w="12700">
            <a:solidFill>
              <a:srgbClr val="2B2118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22960" y="15544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1325880" y="1554480"/>
            <a:ext cx="247893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2B2118"/>
                </a:solidFill>
                <a:latin typeface="Batang" pitchFamily="34" charset="0"/>
                <a:ea typeface="Batang" pitchFamily="34" charset="-122"/>
                <a:cs typeface="Batang" pitchFamily="34" charset="-120"/>
              </a:rPr>
              <a:t>스테이지 1</a:t>
            </a:r>
            <a:endParaRPr lang="en-US" sz="2000" dirty="0"/>
          </a:p>
        </p:txBody>
      </p:sp>
      <p:sp>
        <p:nvSpPr>
          <p:cNvPr id="7" name="Shape 5"/>
          <p:cNvSpPr/>
          <p:nvPr/>
        </p:nvSpPr>
        <p:spPr>
          <a:xfrm>
            <a:off x="822960" y="2194560"/>
            <a:ext cx="219456" cy="219456"/>
          </a:xfrm>
          <a:prstGeom prst="ellipse">
            <a:avLst/>
          </a:prstGeom>
          <a:solidFill>
            <a:srgbClr val="2B2118"/>
          </a:solidFill>
          <a:ln w="12700">
            <a:solidFill>
              <a:srgbClr val="2B2118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115568" y="2194560"/>
            <a:ext cx="219456" cy="219456"/>
          </a:xfrm>
          <a:prstGeom prst="ellipse">
            <a:avLst/>
          </a:prstGeom>
          <a:solidFill>
            <a:srgbClr val="E0312B"/>
          </a:solidFill>
          <a:ln w="12700">
            <a:solidFill>
              <a:srgbClr val="E0312B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408176" y="2194560"/>
            <a:ext cx="219456" cy="219456"/>
          </a:xfrm>
          <a:prstGeom prst="ellipse">
            <a:avLst/>
          </a:prstGeom>
          <a:solidFill>
            <a:srgbClr val="1F6FE0"/>
          </a:solidFill>
          <a:ln w="12700">
            <a:solidFill>
              <a:srgbClr val="1F6FE0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1792224" y="2176272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7B6B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검정 · 빨강 · 파랑</a:t>
            </a:r>
            <a:endParaRPr lang="en-US" sz="1200" dirty="0"/>
          </a:p>
        </p:txBody>
      </p:sp>
      <p:sp>
        <p:nvSpPr>
          <p:cNvPr id="11" name="Text 9"/>
          <p:cNvSpPr txBox="1"/>
          <p:nvPr/>
        </p:nvSpPr>
        <p:spPr>
          <a:xfrm>
            <a:off x="822960" y="2651760"/>
            <a:ext cx="2936138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2B211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검정 다리로 틈 건너기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2B211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빨강으로 튕겨 벽 넘기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2B211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가시 구덩이를 선으로 덮기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2B211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파랑으로 가파른 비탈 오르기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822960" y="4206240"/>
            <a:ext cx="293613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b="1" dirty="0">
                <a:solidFill>
                  <a:srgbClr val="1F6F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작은 물방울 6 · 별 3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4353458" y="1280160"/>
            <a:ext cx="3484778" cy="3429000"/>
          </a:xfrm>
          <a:prstGeom prst="roundRect">
            <a:avLst>
              <a:gd name="adj" fmla="val 2133"/>
            </a:avLst>
          </a:prstGeom>
          <a:solidFill>
            <a:srgbClr val="FAF6EC"/>
          </a:solidFill>
          <a:ln w="12700">
            <a:solidFill>
              <a:srgbClr val="D8C8A4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4627778" y="1554480"/>
            <a:ext cx="384048" cy="384048"/>
          </a:xfrm>
          <a:prstGeom prst="ellipse">
            <a:avLst/>
          </a:prstGeom>
          <a:solidFill>
            <a:srgbClr val="2B2118"/>
          </a:solidFill>
          <a:ln w="12700">
            <a:solidFill>
              <a:srgbClr val="2B2118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4627778" y="15544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5130698" y="1554480"/>
            <a:ext cx="247893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2B2118"/>
                </a:solidFill>
                <a:latin typeface="Batang" pitchFamily="34" charset="0"/>
                <a:ea typeface="Batang" pitchFamily="34" charset="-122"/>
                <a:cs typeface="Batang" pitchFamily="34" charset="-120"/>
              </a:rPr>
              <a:t>스테이지 2</a:t>
            </a:r>
            <a:endParaRPr lang="en-US" sz="2000" dirty="0"/>
          </a:p>
        </p:txBody>
      </p:sp>
      <p:sp>
        <p:nvSpPr>
          <p:cNvPr id="17" name="Shape 15"/>
          <p:cNvSpPr/>
          <p:nvPr/>
        </p:nvSpPr>
        <p:spPr>
          <a:xfrm>
            <a:off x="4627778" y="2194560"/>
            <a:ext cx="219456" cy="219456"/>
          </a:xfrm>
          <a:prstGeom prst="ellipse">
            <a:avLst/>
          </a:prstGeom>
          <a:solidFill>
            <a:srgbClr val="2B2118"/>
          </a:solidFill>
          <a:ln w="12700">
            <a:solidFill>
              <a:srgbClr val="2B2118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4920386" y="2194560"/>
            <a:ext cx="219456" cy="219456"/>
          </a:xfrm>
          <a:prstGeom prst="ellipse">
            <a:avLst/>
          </a:prstGeom>
          <a:solidFill>
            <a:srgbClr val="1FA655"/>
          </a:solidFill>
          <a:ln w="12700">
            <a:solidFill>
              <a:srgbClr val="1FA655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5212994" y="2194560"/>
            <a:ext cx="219456" cy="219456"/>
          </a:xfrm>
          <a:prstGeom prst="ellipse">
            <a:avLst/>
          </a:prstGeom>
          <a:solidFill>
            <a:srgbClr val="C99A00"/>
          </a:solidFill>
          <a:ln w="12700">
            <a:solidFill>
              <a:srgbClr val="C99A00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5597042" y="2176272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7B6B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검정 · 초록 · 노랑</a:t>
            </a:r>
            <a:endParaRPr lang="en-US" sz="1200" dirty="0"/>
          </a:p>
        </p:txBody>
      </p:sp>
      <p:sp>
        <p:nvSpPr>
          <p:cNvPr id="21" name="Text 19"/>
          <p:cNvSpPr txBox="1"/>
          <p:nvPr/>
        </p:nvSpPr>
        <p:spPr>
          <a:xfrm>
            <a:off x="4627778" y="2651760"/>
            <a:ext cx="2936138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2B211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초록 엘리베이터로 구덩이 탈출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2B211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노랑으로 결정 막대 지우기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2B211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U자 초록 컵으로 공중 별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2B211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되돌아오지 못하게 막는 턱</a:t>
            </a:r>
            <a:endParaRPr lang="en-US" sz="1400" dirty="0"/>
          </a:p>
        </p:txBody>
      </p:sp>
      <p:sp>
        <p:nvSpPr>
          <p:cNvPr id="22" name="Text 20"/>
          <p:cNvSpPr txBox="1"/>
          <p:nvPr/>
        </p:nvSpPr>
        <p:spPr>
          <a:xfrm>
            <a:off x="4627778" y="4206240"/>
            <a:ext cx="293613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b="1" dirty="0">
                <a:solidFill>
                  <a:srgbClr val="1F6F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작은 물방울 6 · 별 3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8158277" y="1280160"/>
            <a:ext cx="3484778" cy="3429000"/>
          </a:xfrm>
          <a:prstGeom prst="roundRect">
            <a:avLst>
              <a:gd name="adj" fmla="val 2133"/>
            </a:avLst>
          </a:prstGeom>
          <a:solidFill>
            <a:srgbClr val="FAF6EC"/>
          </a:solidFill>
          <a:ln w="12700">
            <a:solidFill>
              <a:srgbClr val="D8C8A4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8432597" y="1554480"/>
            <a:ext cx="384048" cy="384048"/>
          </a:xfrm>
          <a:prstGeom prst="ellipse">
            <a:avLst/>
          </a:prstGeom>
          <a:solidFill>
            <a:srgbClr val="2B2118"/>
          </a:solidFill>
          <a:ln w="12700">
            <a:solidFill>
              <a:srgbClr val="2B2118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8432597" y="15544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</a:t>
            </a:r>
            <a:endParaRPr lang="en-US" sz="1400" dirty="0"/>
          </a:p>
        </p:txBody>
      </p:sp>
      <p:sp>
        <p:nvSpPr>
          <p:cNvPr id="26" name="Text 24"/>
          <p:cNvSpPr txBox="1"/>
          <p:nvPr/>
        </p:nvSpPr>
        <p:spPr>
          <a:xfrm>
            <a:off x="8935517" y="1554480"/>
            <a:ext cx="247893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2B2118"/>
                </a:solidFill>
                <a:latin typeface="Batang" pitchFamily="34" charset="0"/>
                <a:ea typeface="Batang" pitchFamily="34" charset="-122"/>
                <a:cs typeface="Batang" pitchFamily="34" charset="-120"/>
              </a:rPr>
              <a:t>스테이지 3</a:t>
            </a:r>
            <a:endParaRPr lang="en-US" sz="2000" dirty="0"/>
          </a:p>
        </p:txBody>
      </p:sp>
      <p:sp>
        <p:nvSpPr>
          <p:cNvPr id="27" name="Shape 25"/>
          <p:cNvSpPr/>
          <p:nvPr/>
        </p:nvSpPr>
        <p:spPr>
          <a:xfrm>
            <a:off x="8432597" y="2194560"/>
            <a:ext cx="219456" cy="219456"/>
          </a:xfrm>
          <a:prstGeom prst="ellipse">
            <a:avLst/>
          </a:prstGeom>
          <a:solidFill>
            <a:srgbClr val="2B2118"/>
          </a:solidFill>
          <a:ln w="12700">
            <a:solidFill>
              <a:srgbClr val="2B211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8725205" y="2194560"/>
            <a:ext cx="219456" cy="219456"/>
          </a:xfrm>
          <a:prstGeom prst="ellipse">
            <a:avLst/>
          </a:prstGeom>
          <a:solidFill>
            <a:srgbClr val="E0312B"/>
          </a:solidFill>
          <a:ln w="12700">
            <a:solidFill>
              <a:srgbClr val="E0312B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9017813" y="2194560"/>
            <a:ext cx="219456" cy="219456"/>
          </a:xfrm>
          <a:prstGeom prst="ellipse">
            <a:avLst/>
          </a:prstGeom>
          <a:solidFill>
            <a:srgbClr val="1F6FE0"/>
          </a:solidFill>
          <a:ln w="12700">
            <a:solidFill>
              <a:srgbClr val="1F6FE0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9310421" y="2194560"/>
            <a:ext cx="219456" cy="219456"/>
          </a:xfrm>
          <a:prstGeom prst="ellipse">
            <a:avLst/>
          </a:prstGeom>
          <a:solidFill>
            <a:srgbClr val="1FA655"/>
          </a:solidFill>
          <a:ln w="12700">
            <a:solidFill>
              <a:srgbClr val="1FA655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9603029" y="2194560"/>
            <a:ext cx="219456" cy="219456"/>
          </a:xfrm>
          <a:prstGeom prst="ellipse">
            <a:avLst/>
          </a:prstGeom>
          <a:solidFill>
            <a:srgbClr val="C99A00"/>
          </a:solidFill>
          <a:ln w="12700">
            <a:solidFill>
              <a:srgbClr val="C99A00"/>
            </a:solidFill>
            <a:prstDash val="solid"/>
          </a:ln>
        </p:spPr>
      </p:sp>
      <p:sp>
        <p:nvSpPr>
          <p:cNvPr id="32" name="Text 30"/>
          <p:cNvSpPr txBox="1"/>
          <p:nvPr/>
        </p:nvSpPr>
        <p:spPr>
          <a:xfrm>
            <a:off x="9987077" y="2176272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7B6B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5색 모두</a:t>
            </a:r>
            <a:endParaRPr lang="en-US" sz="1200" dirty="0"/>
          </a:p>
        </p:txBody>
      </p:sp>
      <p:sp>
        <p:nvSpPr>
          <p:cNvPr id="33" name="Text 31"/>
          <p:cNvSpPr txBox="1"/>
          <p:nvPr/>
        </p:nvSpPr>
        <p:spPr>
          <a:xfrm>
            <a:off x="8432597" y="2651760"/>
            <a:ext cx="2936138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2B211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발사기 3개를 같은 색으로 막기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2B211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파랑 + 빨강으로 절벽 뛰기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2B211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떨어지며 물방울 · 정지 +1 줍기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2B211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아래 통로 · 공중 물방울</a:t>
            </a:r>
            <a:endParaRPr lang="en-US" sz="1400" dirty="0"/>
          </a:p>
        </p:txBody>
      </p:sp>
      <p:sp>
        <p:nvSpPr>
          <p:cNvPr id="34" name="Text 32"/>
          <p:cNvSpPr txBox="1"/>
          <p:nvPr/>
        </p:nvSpPr>
        <p:spPr>
          <a:xfrm>
            <a:off x="8432597" y="4206240"/>
            <a:ext cx="293613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b="1" dirty="0">
                <a:solidFill>
                  <a:srgbClr val="1F6F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작은 물방울 10 · 별 3</a:t>
            </a:r>
            <a:endParaRPr lang="en-US" sz="1200" dirty="0"/>
          </a:p>
        </p:txBody>
      </p:sp>
      <p:sp>
        <p:nvSpPr>
          <p:cNvPr id="35" name="Text 33"/>
          <p:cNvSpPr txBox="1"/>
          <p:nvPr/>
        </p:nvSpPr>
        <p:spPr>
          <a:xfrm>
            <a:off x="548640" y="489204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00" dirty="0">
                <a:solidFill>
                  <a:srgbClr val="7B6B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스테이지는 레벨 툴로 직접 제작. 스테이지 3 은 정석 풀이로 별 3 · 정화 100% 를 확인 (물리 시뮬레이션)</a:t>
            </a:r>
            <a:endParaRPr lang="en-US" sz="1000" dirty="0"/>
          </a:p>
        </p:txBody>
      </p:sp>
      <p:sp>
        <p:nvSpPr>
          <p:cNvPr id="36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5855" y="6473952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900">
                <a:solidFill>
                  <a:srgbClr val="7B6B57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lang="en-US" b="0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>
            <a:spLocks noGrp="1"/>
          </p:cNvSpPr>
          <p:nvPr>
            <p:ph type="title" idx="101" hasCustomPrompt="1"/>
          </p:nvPr>
        </p:nvSpPr>
        <p:spPr>
          <a:xfrm>
            <a:off x="548640" y="292608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800" b="1" dirty="0">
                <a:solidFill>
                  <a:srgbClr val="2B2118"/>
                </a:solidFill>
                <a:latin typeface="Batang" pitchFamily="34" charset="0"/>
                <a:ea typeface="Batang" pitchFamily="34" charset="-122"/>
                <a:cs typeface="Batang" pitchFamily="34" charset="-120"/>
              </a:rPr>
              <a:t>개발 현황과 앞으로 필요한 것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548640" y="1234440"/>
            <a:ext cx="5669280" cy="4572000"/>
          </a:xfrm>
          <a:prstGeom prst="roundRect">
            <a:avLst>
              <a:gd name="adj" fmla="val 1600"/>
            </a:avLst>
          </a:prstGeom>
          <a:solidFill>
            <a:srgbClr val="FAF6EC"/>
          </a:solidFill>
          <a:ln w="12700">
            <a:solidFill>
              <a:srgbClr val="D8C8A4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822960" y="1371600"/>
            <a:ext cx="5120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b="1" dirty="0">
                <a:solidFill>
                  <a:srgbClr val="1F6F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프로토타입 4일 (2026-10-19 ~ 22)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1024128" y="1965960"/>
            <a:ext cx="0" cy="3291840"/>
          </a:xfrm>
          <a:prstGeom prst="line">
            <a:avLst/>
          </a:prstGeom>
          <a:noFill/>
          <a:ln w="25400">
            <a:solidFill>
              <a:srgbClr val="D8C8A4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914400" y="1874520"/>
            <a:ext cx="219456" cy="219456"/>
          </a:xfrm>
          <a:prstGeom prst="ellipse">
            <a:avLst/>
          </a:prstGeom>
          <a:solidFill>
            <a:srgbClr val="FFFFFF"/>
          </a:solidFill>
          <a:ln w="19050">
            <a:solidFill>
              <a:srgbClr val="1F6FE0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25880" y="1828800"/>
            <a:ext cx="731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b="1" dirty="0">
                <a:solidFill>
                  <a:srgbClr val="2B211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10-19</a:t>
            </a:r>
            <a:endParaRPr lang="en-US" sz="1200" dirty="0"/>
          </a:p>
        </p:txBody>
      </p:sp>
      <p:sp>
        <p:nvSpPr>
          <p:cNvPr id="8" name="Text 6"/>
          <p:cNvSpPr txBox="1"/>
          <p:nvPr/>
        </p:nvSpPr>
        <p:spPr>
          <a:xfrm>
            <a:off x="2057400" y="1828800"/>
            <a:ext cx="4023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2B211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한 마리 버전: 자동 달리기 · 선 물리 · 완전 정지 · 색 3종 · 레벨 툴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914400" y="2788920"/>
            <a:ext cx="219456" cy="219456"/>
          </a:xfrm>
          <a:prstGeom prst="ellipse">
            <a:avLst/>
          </a:prstGeom>
          <a:solidFill>
            <a:srgbClr val="FFFFFF"/>
          </a:solidFill>
          <a:ln w="19050">
            <a:solidFill>
              <a:srgbClr val="1F6FE0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1325880" y="2743200"/>
            <a:ext cx="731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b="1" dirty="0">
                <a:solidFill>
                  <a:srgbClr val="2B211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10-20</a:t>
            </a:r>
            <a:endParaRPr lang="en-US" sz="1200" dirty="0"/>
          </a:p>
        </p:txBody>
      </p:sp>
      <p:sp>
        <p:nvSpPr>
          <p:cNvPr id="11" name="Text 9"/>
          <p:cNvSpPr txBox="1"/>
          <p:nvPr/>
        </p:nvSpPr>
        <p:spPr>
          <a:xfrm>
            <a:off x="2057400" y="2743200"/>
            <a:ext cx="4023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2B211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물방울 무리 방식으로 전환: 떨어지는 선 · 빨아들이기 · 5색 · 대열 · 정화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914400" y="3703320"/>
            <a:ext cx="219456" cy="219456"/>
          </a:xfrm>
          <a:prstGeom prst="ellipse">
            <a:avLst/>
          </a:prstGeom>
          <a:solidFill>
            <a:srgbClr val="FFFFFF"/>
          </a:solidFill>
          <a:ln w="19050">
            <a:solidFill>
              <a:srgbClr val="1F6FE0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1325880" y="3657600"/>
            <a:ext cx="731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b="1" dirty="0">
                <a:solidFill>
                  <a:srgbClr val="2B211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10-21</a:t>
            </a:r>
            <a:endParaRPr lang="en-US" sz="1200" dirty="0"/>
          </a:p>
        </p:txBody>
      </p:sp>
      <p:sp>
        <p:nvSpPr>
          <p:cNvPr id="14" name="Text 12"/>
          <p:cNvSpPr txBox="1"/>
          <p:nvPr/>
        </p:nvSpPr>
        <p:spPr>
          <a:xfrm>
            <a:off x="2057400" y="3657600"/>
            <a:ext cx="4023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2B211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레벨 툴 확장 · UI 글자 툴 · 비탈 규칙 · 일시 정지 · 스테이지 1·2 제작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914400" y="4617720"/>
            <a:ext cx="219456" cy="219456"/>
          </a:xfrm>
          <a:prstGeom prst="ellipse">
            <a:avLst/>
          </a:prstGeom>
          <a:solidFill>
            <a:srgbClr val="1F6FE0"/>
          </a:solidFill>
          <a:ln w="19050">
            <a:solidFill>
              <a:srgbClr val="1F6FE0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1325880" y="4572000"/>
            <a:ext cx="731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b="1" dirty="0">
                <a:solidFill>
                  <a:srgbClr val="2B211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10-22</a:t>
            </a:r>
            <a:endParaRPr lang="en-US" sz="1200" dirty="0"/>
          </a:p>
        </p:txBody>
      </p:sp>
      <p:sp>
        <p:nvSpPr>
          <p:cNvPr id="17" name="Text 15"/>
          <p:cNvSpPr txBox="1"/>
          <p:nvPr/>
        </p:nvSpPr>
        <p:spPr>
          <a:xfrm>
            <a:off x="2057400" y="4572000"/>
            <a:ext cx="4023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2B211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발사기(색 투사체) · 세운 빨강 · 스테이지 3 제작 · 플레이 테스트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6492240" y="1234440"/>
            <a:ext cx="5150815" cy="2148840"/>
          </a:xfrm>
          <a:prstGeom prst="roundRect">
            <a:avLst>
              <a:gd name="adj" fmla="val 3404"/>
            </a:avLst>
          </a:prstGeom>
          <a:solidFill>
            <a:srgbClr val="FFFFFF"/>
          </a:solidFill>
          <a:ln w="19050">
            <a:solidFill>
              <a:srgbClr val="1F6FE0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6766560" y="1371600"/>
            <a:ext cx="460217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b="1" dirty="0">
                <a:solidFill>
                  <a:srgbClr val="1F6F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필요한 인력 (가안)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6766560" y="1783080"/>
            <a:ext cx="329184" cy="329184"/>
          </a:xfrm>
          <a:prstGeom prst="ellipse">
            <a:avLst/>
          </a:prstGeom>
          <a:solidFill>
            <a:srgbClr val="E0312B"/>
          </a:solidFill>
          <a:ln w="12700">
            <a:solidFill>
              <a:srgbClr val="E0312B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6766560" y="178308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</a:t>
            </a:r>
            <a:endParaRPr lang="en-US" sz="1400" dirty="0"/>
          </a:p>
        </p:txBody>
      </p:sp>
      <p:sp>
        <p:nvSpPr>
          <p:cNvPr id="22" name="Text 20"/>
          <p:cNvSpPr txBox="1"/>
          <p:nvPr/>
        </p:nvSpPr>
        <p:spPr>
          <a:xfrm>
            <a:off x="7223760" y="1801368"/>
            <a:ext cx="4144975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2B211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기획 · 레벨</a:t>
            </a:r>
            <a:r>
              <a:rPr lang="en-US" sz="1100" dirty="0">
                <a:solidFill>
                  <a:srgbClr val="7B6B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  퍼즐 스테이지 설계를 겸함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6766560" y="2286000"/>
            <a:ext cx="329184" cy="329184"/>
          </a:xfrm>
          <a:prstGeom prst="ellipse">
            <a:avLst/>
          </a:prstGeom>
          <a:solidFill>
            <a:srgbClr val="1F6FE0"/>
          </a:solidFill>
          <a:ln w="12700">
            <a:solidFill>
              <a:srgbClr val="1F6FE0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6766560" y="228600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</a:t>
            </a:r>
            <a:endParaRPr lang="en-US" sz="1400" dirty="0"/>
          </a:p>
        </p:txBody>
      </p:sp>
      <p:sp>
        <p:nvSpPr>
          <p:cNvPr id="25" name="Text 23"/>
          <p:cNvSpPr txBox="1"/>
          <p:nvPr/>
        </p:nvSpPr>
        <p:spPr>
          <a:xfrm>
            <a:off x="7223760" y="2304288"/>
            <a:ext cx="4144975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2B211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클라이언트</a:t>
            </a:r>
            <a:r>
              <a:rPr lang="en-US" sz="1100" dirty="0">
                <a:solidFill>
                  <a:srgbClr val="7B6B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  물리 · 무리 이동 · 레벨 툴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6766560" y="2788920"/>
            <a:ext cx="329184" cy="329184"/>
          </a:xfrm>
          <a:prstGeom prst="ellipse">
            <a:avLst/>
          </a:prstGeom>
          <a:solidFill>
            <a:srgbClr val="1FA655"/>
          </a:solidFill>
          <a:ln w="12700">
            <a:solidFill>
              <a:srgbClr val="1FA655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6766560" y="278892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</a:t>
            </a:r>
            <a:endParaRPr lang="en-US" sz="1400" dirty="0"/>
          </a:p>
        </p:txBody>
      </p:sp>
      <p:sp>
        <p:nvSpPr>
          <p:cNvPr id="28" name="Text 26"/>
          <p:cNvSpPr txBox="1"/>
          <p:nvPr/>
        </p:nvSpPr>
        <p:spPr>
          <a:xfrm>
            <a:off x="7223760" y="2807208"/>
            <a:ext cx="4144975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2B211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아트 · UI</a:t>
            </a:r>
            <a:r>
              <a:rPr lang="en-US" sz="1100" dirty="0">
                <a:solidFill>
                  <a:srgbClr val="7B6B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  손그림 아트 · 연출</a:t>
            </a:r>
            <a:endParaRPr lang="en-US" sz="1300" dirty="0"/>
          </a:p>
        </p:txBody>
      </p:sp>
      <p:sp>
        <p:nvSpPr>
          <p:cNvPr id="29" name="Shape 27"/>
          <p:cNvSpPr/>
          <p:nvPr/>
        </p:nvSpPr>
        <p:spPr>
          <a:xfrm>
            <a:off x="6492240" y="3611880"/>
            <a:ext cx="5150815" cy="2194560"/>
          </a:xfrm>
          <a:prstGeom prst="roundRect">
            <a:avLst>
              <a:gd name="adj" fmla="val 3333"/>
            </a:avLst>
          </a:prstGeom>
          <a:solidFill>
            <a:srgbClr val="FAF6EC"/>
          </a:solidFill>
          <a:ln w="12700">
            <a:solidFill>
              <a:srgbClr val="D8C8A4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6766560" y="3749040"/>
            <a:ext cx="460217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b="1" dirty="0">
                <a:solidFill>
                  <a:srgbClr val="1FA6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다음 단계: 스테이지 · 장치 늘리기</a:t>
            </a:r>
            <a:endParaRPr lang="en-US" sz="1300" dirty="0"/>
          </a:p>
        </p:txBody>
      </p:sp>
      <p:sp>
        <p:nvSpPr>
          <p:cNvPr id="31" name="Text 29"/>
          <p:cNvSpPr txBox="1"/>
          <p:nvPr/>
        </p:nvSpPr>
        <p:spPr>
          <a:xfrm>
            <a:off x="6766560" y="4114800"/>
            <a:ext cx="4602175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2B211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레벨 툴로 스테이지를 늘리고, 색 조합 퍼즐을 다양하게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2B211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새 장치 검토: 체크포인트 · 새 프랍 · 색 투사체 변형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2B211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데모는 1인 기획·검수 + Claude Code 구현으로 제작</a:t>
            </a:r>
            <a:endParaRPr lang="en-US" sz="1300" dirty="0"/>
          </a:p>
        </p:txBody>
      </p:sp>
      <p:sp>
        <p:nvSpPr>
          <p:cNvPr id="32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5855" y="6473952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900">
                <a:solidFill>
                  <a:srgbClr val="7B6B57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lang="en-US" b="0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>
            <a:spLocks noGrp="1"/>
          </p:cNvSpPr>
          <p:nvPr>
            <p:ph type="title" idx="101" hasCustomPrompt="1"/>
          </p:nvPr>
        </p:nvSpPr>
        <p:spPr>
          <a:xfrm>
            <a:off x="548640" y="292608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800" b="1" dirty="0">
                <a:solidFill>
                  <a:srgbClr val="2B2118"/>
                </a:solidFill>
                <a:latin typeface="Batang" pitchFamily="34" charset="0"/>
                <a:ea typeface="Batang" pitchFamily="34" charset="-122"/>
                <a:cs typeface="Batang" pitchFamily="34" charset="-120"/>
              </a:rPr>
              <a:t>이제 직접 보여 드릴게요</a:t>
            </a:r>
            <a:endParaRPr lang="en-US" sz="2800" dirty="0"/>
          </a:p>
        </p:txBody>
      </p:sp>
      <p:pic>
        <p:nvPicPr>
          <p:cNvPr id="3" name="Image 0" descr="D:\stopsketch\데모제출\2_대표이미지\06_줄지어_튕겨올라_공중물방울_깨우기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08015" y="1234440"/>
            <a:ext cx="6035040" cy="3394710"/>
          </a:xfrm>
          <a:prstGeom prst="rect">
            <a:avLst/>
          </a:prstGeom>
        </p:spPr>
      </p:pic>
      <p:sp>
        <p:nvSpPr>
          <p:cNvPr id="4" name="Shape 1"/>
          <p:cNvSpPr/>
          <p:nvPr/>
        </p:nvSpPr>
        <p:spPr>
          <a:xfrm>
            <a:off x="5608015" y="1234440"/>
            <a:ext cx="6035040" cy="3394710"/>
          </a:xfrm>
          <a:prstGeom prst="rect">
            <a:avLst/>
          </a:prstGeom>
          <a:ln w="12700">
            <a:solidFill>
              <a:srgbClr val="D8C8A4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548640" y="1280160"/>
            <a:ext cx="4572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b="1" dirty="0">
                <a:solidFill>
                  <a:srgbClr val="1F6F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시연에서 볼 것</a:t>
            </a:r>
            <a:endParaRPr lang="en-US" sz="1300" dirty="0"/>
          </a:p>
        </p:txBody>
      </p:sp>
      <p:sp>
        <p:nvSpPr>
          <p:cNvPr id="6" name="Shape 3"/>
          <p:cNvSpPr/>
          <p:nvPr/>
        </p:nvSpPr>
        <p:spPr>
          <a:xfrm>
            <a:off x="548640" y="1737360"/>
            <a:ext cx="384048" cy="384048"/>
          </a:xfrm>
          <a:prstGeom prst="ellipse">
            <a:avLst/>
          </a:prstGeom>
          <a:solidFill>
            <a:srgbClr val="1F6FE0"/>
          </a:solidFill>
          <a:ln w="12700">
            <a:solidFill>
              <a:srgbClr val="1F6FE0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548640" y="17373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</a:t>
            </a:r>
            <a:endParaRPr lang="en-US" sz="1400" dirty="0"/>
          </a:p>
        </p:txBody>
      </p:sp>
      <p:sp>
        <p:nvSpPr>
          <p:cNvPr id="8" name="Text 5"/>
          <p:cNvSpPr txBox="1"/>
          <p:nvPr/>
        </p:nvSpPr>
        <p:spPr>
          <a:xfrm>
            <a:off x="1097280" y="1755648"/>
            <a:ext cx="43891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700" b="1" dirty="0">
                <a:solidFill>
                  <a:srgbClr val="2B2118"/>
                </a:solidFill>
                <a:latin typeface="Batang" pitchFamily="34" charset="0"/>
                <a:ea typeface="Batang" pitchFamily="34" charset="-122"/>
                <a:cs typeface="Batang" pitchFamily="34" charset="-120"/>
              </a:rPr>
              <a:t>멈추고 그리기</a:t>
            </a:r>
            <a:endParaRPr lang="en-US" sz="1700" dirty="0"/>
          </a:p>
        </p:txBody>
      </p:sp>
      <p:sp>
        <p:nvSpPr>
          <p:cNvPr id="9" name="Text 6"/>
          <p:cNvSpPr txBox="1"/>
          <p:nvPr/>
        </p:nvSpPr>
        <p:spPr>
          <a:xfrm>
            <a:off x="1097280" y="2148840"/>
            <a:ext cx="43891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50" dirty="0">
                <a:solidFill>
                  <a:srgbClr val="2B211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스페이스로 시간을 멈추고, 색을 골라 길을 그린다</a:t>
            </a:r>
            <a:endParaRPr lang="en-US" sz="1250" dirty="0"/>
          </a:p>
        </p:txBody>
      </p:sp>
      <p:sp>
        <p:nvSpPr>
          <p:cNvPr id="10" name="Shape 7"/>
          <p:cNvSpPr/>
          <p:nvPr/>
        </p:nvSpPr>
        <p:spPr>
          <a:xfrm>
            <a:off x="548640" y="2834640"/>
            <a:ext cx="384048" cy="384048"/>
          </a:xfrm>
          <a:prstGeom prst="ellipse">
            <a:avLst/>
          </a:prstGeom>
          <a:solidFill>
            <a:srgbClr val="E0312B"/>
          </a:solidFill>
          <a:ln w="12700">
            <a:solidFill>
              <a:srgbClr val="E0312B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548640" y="28346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</a:t>
            </a:r>
            <a:endParaRPr lang="en-US" sz="1400" dirty="0"/>
          </a:p>
        </p:txBody>
      </p:sp>
      <p:sp>
        <p:nvSpPr>
          <p:cNvPr id="12" name="Text 9"/>
          <p:cNvSpPr txBox="1"/>
          <p:nvPr/>
        </p:nvSpPr>
        <p:spPr>
          <a:xfrm>
            <a:off x="1097280" y="2852928"/>
            <a:ext cx="43891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700" b="1" dirty="0">
                <a:solidFill>
                  <a:srgbClr val="2B2118"/>
                </a:solidFill>
                <a:latin typeface="Batang" pitchFamily="34" charset="0"/>
                <a:ea typeface="Batang" pitchFamily="34" charset="-122"/>
                <a:cs typeface="Batang" pitchFamily="34" charset="-120"/>
              </a:rPr>
              <a:t>선이 떨어진다</a:t>
            </a:r>
            <a:endParaRPr lang="en-US" sz="1700" dirty="0"/>
          </a:p>
        </p:txBody>
      </p:sp>
      <p:sp>
        <p:nvSpPr>
          <p:cNvPr id="13" name="Text 10"/>
          <p:cNvSpPr txBox="1"/>
          <p:nvPr/>
        </p:nvSpPr>
        <p:spPr>
          <a:xfrm>
            <a:off x="1097280" y="3246120"/>
            <a:ext cx="43891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50" dirty="0">
                <a:solidFill>
                  <a:srgbClr val="2B211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재생하면 그린 선이 떨어져 걸쳐지고, 색마다 튕기고 · 빨라지고 · 떠오른다</a:t>
            </a:r>
            <a:endParaRPr lang="en-US" sz="1250" dirty="0"/>
          </a:p>
        </p:txBody>
      </p:sp>
      <p:sp>
        <p:nvSpPr>
          <p:cNvPr id="14" name="Shape 11"/>
          <p:cNvSpPr/>
          <p:nvPr/>
        </p:nvSpPr>
        <p:spPr>
          <a:xfrm>
            <a:off x="548640" y="3931920"/>
            <a:ext cx="384048" cy="384048"/>
          </a:xfrm>
          <a:prstGeom prst="ellipse">
            <a:avLst/>
          </a:prstGeom>
          <a:solidFill>
            <a:srgbClr val="1FA655"/>
          </a:solidFill>
          <a:ln w="12700">
            <a:solidFill>
              <a:srgbClr val="1FA655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548640" y="39319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</a:t>
            </a:r>
            <a:endParaRPr lang="en-US" sz="1400" dirty="0"/>
          </a:p>
        </p:txBody>
      </p:sp>
      <p:sp>
        <p:nvSpPr>
          <p:cNvPr id="16" name="Text 13"/>
          <p:cNvSpPr txBox="1"/>
          <p:nvPr/>
        </p:nvSpPr>
        <p:spPr>
          <a:xfrm>
            <a:off x="1097280" y="3950208"/>
            <a:ext cx="43891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700" b="1" dirty="0">
                <a:solidFill>
                  <a:srgbClr val="2B2118"/>
                </a:solidFill>
                <a:latin typeface="Batang" pitchFamily="34" charset="0"/>
                <a:ea typeface="Batang" pitchFamily="34" charset="-122"/>
                <a:cs typeface="Batang" pitchFamily="34" charset="-120"/>
              </a:rPr>
              <a:t>무리가 따라온다</a:t>
            </a:r>
            <a:endParaRPr lang="en-US" sz="1700" dirty="0"/>
          </a:p>
        </p:txBody>
      </p:sp>
      <p:sp>
        <p:nvSpPr>
          <p:cNvPr id="17" name="Text 14"/>
          <p:cNvSpPr txBox="1"/>
          <p:nvPr/>
        </p:nvSpPr>
        <p:spPr>
          <a:xfrm>
            <a:off x="1097280" y="4343400"/>
            <a:ext cx="43891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50" dirty="0">
                <a:solidFill>
                  <a:srgbClr val="2B211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물방울들이 줄지어 함께 움직이고, 검은 잉크병이 맑아진다</a:t>
            </a:r>
            <a:endParaRPr lang="en-US" sz="1250" dirty="0"/>
          </a:p>
        </p:txBody>
      </p:sp>
      <p:sp>
        <p:nvSpPr>
          <p:cNvPr id="18" name="Shape 15"/>
          <p:cNvSpPr/>
          <p:nvPr/>
        </p:nvSpPr>
        <p:spPr>
          <a:xfrm>
            <a:off x="548640" y="5120640"/>
            <a:ext cx="11094415" cy="685800"/>
          </a:xfrm>
          <a:prstGeom prst="roundRect">
            <a:avLst>
              <a:gd name="adj" fmla="val 10667"/>
            </a:avLst>
          </a:prstGeom>
          <a:solidFill>
            <a:srgbClr val="FFFFFF"/>
          </a:solidFill>
          <a:ln w="12700">
            <a:solidFill>
              <a:srgbClr val="D8C8A4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822960" y="5120640"/>
            <a:ext cx="1054577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7B6B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실행: HTML 한 파일 (Chrome) · 설치 없음      조작: 드래그 그리기 · 스페이스 정지 · 우클릭 빨아들이기 · 1~5 물감 · 휠 줌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5855" y="6473952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900">
                <a:solidFill>
                  <a:srgbClr val="7B6B57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lang="en-US" b="0"/>
              <a:t>11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Batang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Malgun Gothic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64</TotalTime>
  <Words>1238</Words>
  <Application>Microsoft Office PowerPoint</Application>
  <PresentationFormat>와이드스크린</PresentationFormat>
  <Paragraphs>212</Paragraphs>
  <Slides>11</Slides>
  <Notes>11</Notes>
  <HiddenSlides>0</HiddenSlides>
  <MMClips>0</MMClips>
  <ScaleCrop>false</ScaleCrop>
  <HeadingPairs>
    <vt:vector size="6" baseType="variant">
      <vt:variant>
        <vt:lpstr>사용한 글꼴</vt:lpstr>
      </vt:variant>
      <vt:variant>
        <vt:i4>4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11</vt:i4>
      </vt:variant>
    </vt:vector>
  </HeadingPairs>
  <TitlesOfParts>
    <vt:vector size="16" baseType="lpstr">
      <vt:lpstr>Malgun Gothic</vt:lpstr>
      <vt:lpstr>Malgun Gothic</vt:lpstr>
      <vt:lpstr>Batang</vt:lpstr>
      <vt:lpstr>Arial</vt:lpstr>
      <vt:lpstr>Office Theme</vt:lpstr>
      <vt:lpstr>PowerPoint 프레젠테이션</vt:lpstr>
      <vt:lpstr>개요</vt:lpstr>
      <vt:lpstr>레퍼런스 게임</vt:lpstr>
      <vt:lpstr>시장: 그린 선이 물리로 움직이는 게임은 꾸준히 팔렸다</vt:lpstr>
      <vt:lpstr>핵심 재미 네 가지</vt:lpstr>
      <vt:lpstr>한 판의 흐름: 읽고, 멈춰 그리고, 지켜보고, 데려간다</vt:lpstr>
      <vt:lpstr>물감 5색: 색마다 다른 물리 성질</vt:lpstr>
      <vt:lpstr>무리를 데려가는 길: 대열 · 정화 · 장애물</vt:lpstr>
      <vt:lpstr>데모 스테이지 3개: 색과 장치를 하나씩 늘린다</vt:lpstr>
      <vt:lpstr>개발 현황과 앞으로 필요한 것</vt:lpstr>
      <vt:lpstr>이제 직접 보여 드릴게요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스톱 앤 스케치 (가제) 신규 개발 제안</dc:title>
  <dc:subject>PptxGenJS Presentation</dc:subject>
  <dc:creator>PptxGenJS</dc:creator>
  <cp:lastModifiedBy>Gravity</cp:lastModifiedBy>
  <cp:revision>5</cp:revision>
  <dcterms:created xsi:type="dcterms:W3CDTF">2026-10-22T05:47:50Z</dcterms:created>
  <dcterms:modified xsi:type="dcterms:W3CDTF">2026-10-22T07:09:42Z</dcterms:modified>
</cp:coreProperties>
</file>